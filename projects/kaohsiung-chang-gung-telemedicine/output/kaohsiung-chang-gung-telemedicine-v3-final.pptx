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34798bc9c74c24" /><Relationship Type="http://schemas.openxmlformats.org/officeDocument/2006/relationships/extended-properties" Target="/docProps/app.xml" Id="Rc7fb7ddc144341d3" /><Relationship Type="http://schemas.openxmlformats.org/officeDocument/2006/relationships/officeDocument" Target="/ppt/presentation.xml" Id="R61a32b6543a444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55650d8536445f"/>
  </p:sldMasterIdLst>
  <p:notesMasterIdLst>
    <p:notesMasterId xmlns:r="http://schemas.openxmlformats.org/officeDocument/2006/relationships" r:id="R26b2fe9e79834f1b"/>
  </p:notesMasterIdLst>
  <p:sldIdLst>
    <p:sldId xmlns:r="http://schemas.openxmlformats.org/officeDocument/2006/relationships" id="256" r:id="R2c01185c78844dcf"/>
    <p:sldId xmlns:r="http://schemas.openxmlformats.org/officeDocument/2006/relationships" id="257" r:id="Rf31e052f35c04370"/>
    <p:sldId xmlns:r="http://schemas.openxmlformats.org/officeDocument/2006/relationships" id="258" r:id="Rd41f551f2b324169"/>
    <p:sldId xmlns:r="http://schemas.openxmlformats.org/officeDocument/2006/relationships" id="259" r:id="R43c5d377c3f54ba1"/>
    <p:sldId xmlns:r="http://schemas.openxmlformats.org/officeDocument/2006/relationships" id="260" r:id="R817b2cdc10f9473f"/>
    <p:sldId xmlns:r="http://schemas.openxmlformats.org/officeDocument/2006/relationships" id="261" r:id="R61421b72c55041d2"/>
    <p:sldId xmlns:r="http://schemas.openxmlformats.org/officeDocument/2006/relationships" id="262" r:id="Rbdc7657404544dbc"/>
    <p:sldId xmlns:r="http://schemas.openxmlformats.org/officeDocument/2006/relationships" id="263" r:id="R568fb2d4454c4932"/>
    <p:sldId xmlns:r="http://schemas.openxmlformats.org/officeDocument/2006/relationships" id="264" r:id="R36b59e758ff141f9"/>
    <p:sldId xmlns:r="http://schemas.openxmlformats.org/officeDocument/2006/relationships" id="265" r:id="R27c444e00abc4bc4"/>
    <p:sldId xmlns:r="http://schemas.openxmlformats.org/officeDocument/2006/relationships" id="266" r:id="R3818d149491b496b"/>
    <p:sldId xmlns:r="http://schemas.openxmlformats.org/officeDocument/2006/relationships" id="267" r:id="R15a09b2f453b4eba"/>
    <p:sldId xmlns:r="http://schemas.openxmlformats.org/officeDocument/2006/relationships" id="268" r:id="R5b34abaa5b9248b2"/>
    <p:sldId xmlns:r="http://schemas.openxmlformats.org/officeDocument/2006/relationships" id="269" r:id="R887ac45b40d44071"/>
    <p:sldId xmlns:r="http://schemas.openxmlformats.org/officeDocument/2006/relationships" id="270" r:id="R65780e49ec3341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d6fb66bb61468f" /><Relationship Type="http://schemas.openxmlformats.org/officeDocument/2006/relationships/slideMaster" Target="/ppt/slideMasters/slideMaster1.xml" Id="Rf155650d8536445f" /><Relationship Type="http://schemas.openxmlformats.org/officeDocument/2006/relationships/notesMaster" Target="/ppt/notesMasters/notesMaster1.xml" Id="R26b2fe9e79834f1b" /><Relationship Type="http://schemas.openxmlformats.org/officeDocument/2006/relationships/presProps" Target="/ppt/presProps.xml" Id="Rfa9810e27e384622" /><Relationship Type="http://schemas.openxmlformats.org/officeDocument/2006/relationships/tableStyles" Target="/ppt/tableStyles.xml" Id="Rf1b09b7d33204c2f" /><Relationship Type="http://schemas.openxmlformats.org/officeDocument/2006/relationships/slide" Target="/ppt/slides/slide1.xml" Id="R2c01185c78844dcf" /><Relationship Type="http://schemas.openxmlformats.org/officeDocument/2006/relationships/slide" Target="/ppt/slides/slide2.xml" Id="Rf31e052f35c04370" /><Relationship Type="http://schemas.openxmlformats.org/officeDocument/2006/relationships/slide" Target="/ppt/slides/slide3.xml" Id="Rd41f551f2b324169" /><Relationship Type="http://schemas.openxmlformats.org/officeDocument/2006/relationships/slide" Target="/ppt/slides/slide4.xml" Id="R43c5d377c3f54ba1" /><Relationship Type="http://schemas.openxmlformats.org/officeDocument/2006/relationships/slide" Target="/ppt/slides/slide5.xml" Id="R817b2cdc10f9473f" /><Relationship Type="http://schemas.openxmlformats.org/officeDocument/2006/relationships/slide" Target="/ppt/slides/slide6.xml" Id="R61421b72c55041d2" /><Relationship Type="http://schemas.openxmlformats.org/officeDocument/2006/relationships/slide" Target="/ppt/slides/slide7.xml" Id="Rbdc7657404544dbc" /><Relationship Type="http://schemas.openxmlformats.org/officeDocument/2006/relationships/slide" Target="/ppt/slides/slide8.xml" Id="R568fb2d4454c4932" /><Relationship Type="http://schemas.openxmlformats.org/officeDocument/2006/relationships/slide" Target="/ppt/slides/slide9.xml" Id="R36b59e758ff141f9" /><Relationship Type="http://schemas.openxmlformats.org/officeDocument/2006/relationships/slide" Target="/ppt/slides/slide10.xml" Id="R27c444e00abc4bc4" /><Relationship Type="http://schemas.openxmlformats.org/officeDocument/2006/relationships/slide" Target="/ppt/slides/slide11.xml" Id="R3818d149491b496b" /><Relationship Type="http://schemas.openxmlformats.org/officeDocument/2006/relationships/slide" Target="/ppt/slides/slide12.xml" Id="R15a09b2f453b4eba" /><Relationship Type="http://schemas.openxmlformats.org/officeDocument/2006/relationships/slide" Target="/ppt/slides/slide13.xml" Id="R5b34abaa5b9248b2" /><Relationship Type="http://schemas.openxmlformats.org/officeDocument/2006/relationships/slide" Target="/ppt/slides/slide14.xml" Id="R887ac45b40d44071" /><Relationship Type="http://schemas.openxmlformats.org/officeDocument/2006/relationships/slide" Target="/ppt/slides/slide15.xml" Id="R65780e49ec3341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ed87ee9da143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77128d8e4c4205" /><Relationship Type="http://schemas.openxmlformats.org/officeDocument/2006/relationships/notesMaster" Target="/ppt/notesMasters/notesMaster1.xml" Id="R6c82cd20ff694b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6232c24029440f" /><Relationship Type="http://schemas.openxmlformats.org/officeDocument/2006/relationships/notesMaster" Target="/ppt/notesMasters/notesMaster1.xml" Id="R6065f760cd8049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b99000365e479e" /><Relationship Type="http://schemas.openxmlformats.org/officeDocument/2006/relationships/notesMaster" Target="/ppt/notesMasters/notesMaster1.xml" Id="R8c97edc87d9f47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c6f0ecc4dd4188" /><Relationship Type="http://schemas.openxmlformats.org/officeDocument/2006/relationships/notesMaster" Target="/ppt/notesMasters/notesMaster1.xml" Id="Ra3d4eb28bb064b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183fcde9e24e90" /><Relationship Type="http://schemas.openxmlformats.org/officeDocument/2006/relationships/notesMaster" Target="/ppt/notesMasters/notesMaster1.xml" Id="R098f3af0866945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174a5be7a74766" /><Relationship Type="http://schemas.openxmlformats.org/officeDocument/2006/relationships/notesMaster" Target="/ppt/notesMasters/notesMaster1.xml" Id="Rdc41098580e542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688930921b4859" /><Relationship Type="http://schemas.openxmlformats.org/officeDocument/2006/relationships/notesMaster" Target="/ppt/notesMasters/notesMaster1.xml" Id="Ra8d91675fe2a42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764d9fcd5e4d31" /><Relationship Type="http://schemas.openxmlformats.org/officeDocument/2006/relationships/notesMaster" Target="/ppt/notesMasters/notesMaster1.xml" Id="Rb6e6d78313d04a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cee64dccd14d1f" /><Relationship Type="http://schemas.openxmlformats.org/officeDocument/2006/relationships/notesMaster" Target="/ppt/notesMasters/notesMaster1.xml" Id="R1d630513904448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84d58f078448cb" /><Relationship Type="http://schemas.openxmlformats.org/officeDocument/2006/relationships/notesMaster" Target="/ppt/notesMasters/notesMaster1.xml" Id="R2b5348f9f0e547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7e8e5f3cfb4031" /><Relationship Type="http://schemas.openxmlformats.org/officeDocument/2006/relationships/notesMaster" Target="/ppt/notesMasters/notesMaster1.xml" Id="R5e434a77db3f49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1ab80fad75410c" /><Relationship Type="http://schemas.openxmlformats.org/officeDocument/2006/relationships/notesMaster" Target="/ppt/notesMasters/notesMaster1.xml" Id="R08aa7859ad3c47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5e8f011ce94f7d" /><Relationship Type="http://schemas.openxmlformats.org/officeDocument/2006/relationships/notesMaster" Target="/ppt/notesMasters/notesMaster1.xml" Id="R3435db29335643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20b6de847244aa" /><Relationship Type="http://schemas.openxmlformats.org/officeDocument/2006/relationships/notesMaster" Target="/ppt/notesMasters/notesMaster1.xml" Id="Rb2bf63c9908745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1645c838b648eb" /><Relationship Type="http://schemas.openxmlformats.org/officeDocument/2006/relationships/notesMaster" Target="/ppt/notesMasters/notesMaster1.xml" Id="Rda1a8b2a8b734d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唯一內容與數據來源：sources/telemedicine-final-data.md；SHA256 4ccdc6025c4779331b8c6ad66ddc18cb4d098f4d6939987cc40c2d7163e869d9。對應 Slide 01 及相關章節。2026 年對外成果 4,217＝官方3,749＋腦中風468，兩種口徑不得混用。沿用核准封面原生版面及 IL-01，報告單位／人／日期仍待補。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唯一內容與數據來源：sources/telemedicine-final-data.md；SHA256 4ccdc6025c4779331b8c6ad66ddc18cb4d098f4d6939987cc40c2d7163e869d9。對應 Slide 02 及相關章節。2026 年對外成果 4,217＝官方3,749＋腦中風468，兩種口徑不得混用。第3、11.4節。23家為2026年8月Patty核定。至少8類為服務範圍，非當期有量科別數。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唯一內容與數據來源：sources/telemedicine-final-data.md；SHA256 4ccdc6025c4779331b8c6ad66ddc18cb4d098f4d6939987cc40c2d7163e869d9。對應 Slide 03 及相關章節。2026 年對外成果 4,217＝官方3,749＋腦中風468，兩種口徑不得混用。第1及Slide03。IL-02為生成的合作情境示意，不指涉真實院舍。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唯一內容與數據來源：sources/telemedicine-final-data.md；SHA256 4ccdc6025c4779331b8c6ad66ddc18cb4d098f4d6939987cc40c2d7163e869d9。對應 Slide 04 及相關章節。2026 年對外成果 4,217＝官方3,749＋腦中風468，兩種口徑不得混用。Slide04策略方向，不主張已量化改善。HIS執行中、AI未來規劃。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唯一內容與數據來源：sources/telemedicine-final-data.md；SHA256 4ccdc6025c4779331b8c6ad66ddc18cb4d098f4d6939987cc40c2d7163e869d9。對應 Slide 05 及相關章節。2026 年對外成果 4,217＝官方3,749＋腦中風468，兩種口徑不得混用。第2節。年度量為不同年份全年；未以2026部分年度做年度同比。未採待確認漁船會議或眼科因果敘事。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唯一內容與數據來源：sources/telemedicine-final-data.md；SHA256 4ccdc6025c4779331b8c6ad66ddc18cb4d098f4d6939987cc40c2d7163e869d9。對應 Slide 06 及相關章節。2026 年對外成果 4,217＝官方3,749＋腦中風468，兩種口徑不得混用。第3節完整23家清冊。頁面以常用簡稱標示，完整正式名稱：屏東縣牡丹鄉衛生所；屏東縣琉球鄉衛生所；屏東縣三地門鄉衛生所；屏東縣霧臺鄉衛生所；屏東縣獅子鄉衛生所；屏東縣瑪家鄉衛生所；屏東縣來義鄉衛生所；屏東縣春日鄉衛生所；恆春旅遊醫院；高雄市甲仙區衛生所；南門醫院；枋寮醫院；恆春基督教醫院；大新醫院；安泰醫院；屏東基督教醫院；澎湖醫院；澎湖縣西嶼鄉衛生所；澎湖縣望安鄉將軍衛生所；三軍總醫院澎湖分院（澎湖監獄）；花蓮醫院豐濱原住民分院；玉里醫院；臺東醫院成功分院。沿用核准Natural Earth地圖與地區尺度中心標示，不增加精確院址。屏東監獄及新營／台南第二監獄未列入。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唯一內容與數據來源：sources/telemedicine-final-data.md；SHA256 4ccdc6025c4779331b8c6ad66ddc18cb4d098f4d6939987cc40c2d7163e869d9。對應 Slide 07 及相關章節。2026 年對外成果 4,217＝官方3,749＋腦中風468，兩種口徑不得混用。Slide07角色。IL-03為非真實人物生成插圖，不作實際團隊照片。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唯一內容與數據來源：sources/telemedicine-final-data.md；SHA256 4ccdc6025c4779331b8c6ad66ddc18cb4d098f4d6939987cc40c2d7163e869d9。對應 Slide 08 及相關章節。2026 年對外成果 4,217＝官方3,749＋腦中風468，兩種口徑不得混用。Slide08八步流程。原生節點及連接線可編輯，另附workflow.drawio。HIS未宣稱已上線。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唯一內容與數據來源：sources/telemedicine-final-data.md；SHA256 4ccdc6025c4779331b8c6ad66ddc18cb4d098f4d6939987cc40c2d7163e869d9。對應 Slide 09 及相關章節。2026 年對外成果 4,217＝官方3,749＋腦中風468，兩種口徑不得混用。第4節及Slide09。至少8類為服務範圍。IL-04設備為示意，不宣稱各據點均配置或實際採購型號。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唯一內容與數據來源：sources/telemedicine-final-data.md；SHA256 4ccdc6025c4779331b8c6ad66ddc18cb4d098f4d6939987cc40c2d7163e869d9。對應 Slide 10 及相關章節。2026 年對外成果 4,217＝官方3,749＋腦中風468，兩種口徑不得混用。第11.4節。原核准Hero/2Secondary/3Supporting composition與背景保留，不採完成率、回應時效、滿意度舊placeholder。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唯一內容與數據來源：sources/telemedicine-final-data.md；SHA256 4ccdc6025c4779331b8c6ad66ddc18cb4d098f4d6939987cc40c2d7163e869d9。對應 Slide 11 及相關章節。2026 年對外成果 4,217＝官方3,749＋腦中風468，兩種口徑不得混用。第11.2節。月量372、286、473、494、572、551、541、460合計3749。原生PowerPoint圖表，嵌入值快照工作簿；未補9–12月，未作不同期間年度同比。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唯一內容與數據來源：sources/telemedicine-final-data.md；SHA256 4ccdc6025c4779331b8c6ad66ddc18cb4d098f4d6939987cc40c2d7163e869d9。對應 Slide 12 及相關章節。2026 年對外成果 4,217＝官方3,749＋腦中風468，兩種口徑不得混用。第11.3節。完整23家×9科，57筆已提供值（含真零值），其餘150格缺資料不推估為0。所有值為2026年1–8月官方口徑。欄「免疫」指風濕過敏免疫科、「耳鼻」指耳鼻喉、「神內」指神經內科、「胸內」指胸腔內科。深淺分級為服務人次，沒有歷年疑義值。完整正式院所名稱：屏東縣牡丹鄉衛生所；屏東縣琉球鄉衛生所；屏東縣三地門鄉衛生所；屏東縣霧臺鄉衛生所；屏東縣獅子鄉衛生所；屏東縣瑪家鄉衛生所；屏東縣來義鄉衛生所；屏東縣春日鄉衛生所；恆春旅遊醫院；高雄市甲仙區衛生所；南門醫院；枋寮醫院；恆春基督教醫院；大新醫院；安泰醫院；屏東基督教醫院；澎湖醫院；澎湖縣西嶼鄉衛生所；澎湖縣望安鄉將軍衛生所；三軍總醫院澎湖分院（澎湖監獄）；花蓮醫院豐濱原住民分院；玉里醫院；臺東醫院成功分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唯一內容與數據來源：sources/telemedicine-final-data.md；SHA256 4ccdc6025c4779331b8c6ad66ddc18cb4d098f4d6939987cc40c2d7163e869d9。對應 Slide 13 及相關章節。2026 年對外成果 4,217＝官方3,749＋腦中風468，兩種口徑不得混用。Slide13及第11.3節。所列均為官方2026年1–8月人次，未主張改善視力、降低轉診、節省工時或其他未驗證效益。IL-05為泛化照護場景，不是這些案例照片。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唯一內容與數據來源：sources/telemedicine-final-data.md；SHA256 4ccdc6025c4779331b8c6ad66ddc18cb4d098f4d6939987cc40c2d7163e869d9。對應 Slide 14 及相關章節。2026 年對外成果 4,217＝官方3,749＋腦中風468，兩種口徑不得混用。第9、10節及Slide14。已完成指工具建置／使用，非量化效益驗證；HIS仍執行中，政策依據有待確認者不宣稱已符合特定加成。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唯一內容與數據來源：sources/telemedicine-final-data.md；SHA256 4ccdc6025c4779331b8c6ad66ddc18cb4d098f4d6939987cc40c2d7163e869d9。對應 Slide 15 及相關章節。2026 年對外成果 4,217＝官方3,749＋腦中風468，兩種口徑不得混用。Slide15。Roadmap為方向分組，不代表已核定時程或完成先後。HIS執行中；其餘未來方向不宣稱已完成。IL-06為示意醫院網絡，非新增合作清冊。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c44950792148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f3695e284d46e7" /><Relationship Type="http://schemas.openxmlformats.org/officeDocument/2006/relationships/slideLayout" Target="/ppt/slideLayouts/slideLayout1.xml" Id="Re3f579e938dc45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f579e938dc45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a226797ef4763" /><Relationship Type="http://schemas.openxmlformats.org/officeDocument/2006/relationships/image" Target="/ppt/media/image.png" Id="R89f453fe0263418c" /><Relationship Type="http://schemas.openxmlformats.org/officeDocument/2006/relationships/notesSlide" Target="/ppt/notesSlides/notesSlide1.xml" Id="R18ac6736a39d43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faf2dad1b456b" /><Relationship Type="http://schemas.openxmlformats.org/officeDocument/2006/relationships/image" Target="/ppt/media/image2.png" Id="R7653d80f4bc64a86" /><Relationship Type="http://schemas.openxmlformats.org/officeDocument/2006/relationships/notesSlide" Target="/ppt/notesSlides/notesSlide2.xml" Id="Rfbe63717387544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9425fca944bda" /><Relationship Type="http://schemas.openxmlformats.org/officeDocument/2006/relationships/image" Target="/ppt/media/image3.png" Id="R62c30ece95d1433c" /><Relationship Type="http://schemas.openxmlformats.org/officeDocument/2006/relationships/notesSlide" Target="/ppt/notesSlides/notesSlide3.xml" Id="R0bd3745b744e49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825841f6f4b4a" /><Relationship Type="http://schemas.openxmlformats.org/officeDocument/2006/relationships/image" Target="/ppt/media/image4.png" Id="Rce181905d1a64f13" /><Relationship Type="http://schemas.openxmlformats.org/officeDocument/2006/relationships/notesSlide" Target="/ppt/notesSlides/notesSlide4.xml" Id="R12e1f9ed988246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a712175634dc1" /><Relationship Type="http://schemas.openxmlformats.org/officeDocument/2006/relationships/notesSlide" Target="/ppt/notesSlides/notesSlide5.xml" Id="R5bbaa7459dc344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0ff639f5049df" /><Relationship Type="http://schemas.openxmlformats.org/officeDocument/2006/relationships/notesSlide" Target="/ppt/notesSlides/notesSlide6.xml" Id="Rf580775bdbc545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45115656d4698" /><Relationship Type="http://schemas.openxmlformats.org/officeDocument/2006/relationships/image" Target="/ppt/media/image5.png" Id="R0bc20380f42d4dfc" /><Relationship Type="http://schemas.openxmlformats.org/officeDocument/2006/relationships/notesSlide" Target="/ppt/notesSlides/notesSlide7.xml" Id="R0afa937d50c64e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e4adc31104e61" /><Relationship Type="http://schemas.openxmlformats.org/officeDocument/2006/relationships/notesSlide" Target="/ppt/notesSlides/notesSlide8.xml" Id="Rea1bb6c806a442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d46d8b7304bb1" /><Relationship Type="http://schemas.openxmlformats.org/officeDocument/2006/relationships/image" Target="/ppt/media/image6.png" Id="R2c306b58e3b24650" /><Relationship Type="http://schemas.openxmlformats.org/officeDocument/2006/relationships/notesSlide" Target="/ppt/notesSlides/notesSlide9.xml" Id="Rb19de3fb2d3346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894aa19574273" /><Relationship Type="http://schemas.openxmlformats.org/officeDocument/2006/relationships/image" Target="/ppt/media/image7.png" Id="R97941e6e8f5d466f" /><Relationship Type="http://schemas.openxmlformats.org/officeDocument/2006/relationships/notesSlide" Target="/ppt/notesSlides/notesSlide10.xml" Id="R2c128eb7df3643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2e1b7e151497d" /><Relationship Type="http://schemas.openxmlformats.org/officeDocument/2006/relationships/chart" Target="/ppt/slides/charts/chart1.xml" Id="R44aa9f645c5a4df6" /><Relationship Type="http://schemas.openxmlformats.org/officeDocument/2006/relationships/notesSlide" Target="/ppt/notesSlides/notesSlide11.xml" Id="R851567ca539a41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34ffae9274ad4" /><Relationship Type="http://schemas.openxmlformats.org/officeDocument/2006/relationships/notesSlide" Target="/ppt/notesSlides/notesSlide12.xml" Id="R25ed4b0aa8e645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5ff7b1c174728" /><Relationship Type="http://schemas.openxmlformats.org/officeDocument/2006/relationships/image" Target="/ppt/media/image8.png" Id="R38bd5a6f622d41bc" /><Relationship Type="http://schemas.openxmlformats.org/officeDocument/2006/relationships/notesSlide" Target="/ppt/notesSlides/notesSlide13.xml" Id="Rc3367fba09f64f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f2b5d0a6449ba" /><Relationship Type="http://schemas.openxmlformats.org/officeDocument/2006/relationships/notesSlide" Target="/ppt/notesSlides/notesSlide14.xml" Id="R286a4b4ac39d4b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9de9cf7fb4490" /><Relationship Type="http://schemas.openxmlformats.org/officeDocument/2006/relationships/image" Target="/ppt/media/image9.png" Id="R54555e1ee6b64466" /><Relationship Type="http://schemas.openxmlformats.org/officeDocument/2006/relationships/image" Target="/ppt/media/image10.png" Id="Re0c7e9991f7f4f31" /><Relationship Type="http://schemas.openxmlformats.org/officeDocument/2006/relationships/notesSlide" Target="/ppt/notesSlides/notesSlide15.xml" Id="R7457d6885c324de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官方服務量（人次）</c:v>
          </c:tx>
          <c:spPr>
            <a:solidFill>
              <a:srgbClr val="2A8C8B"/>
            </a:solidFill>
            <a:ln w="0">
              <a:noFill/>
            </a:ln>
          </c:spPr>
          <c:dLbls>
            <c:dLbl>
              <c:idx val="0"/>
              <c:txPr>
                <a:bodyPr anchorCtr="1"/>
                <a:lstStyle/>
                <a:p>
                  <a:pPr>
                    <a:defRPr sz="1875" b="1">
                      <a:solidFill>
                        <a:srgbClr val="163A5F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anchorCtr="1"/>
                <a:lstStyle/>
                <a:p>
                  <a:pPr>
                    <a:defRPr sz="1875" b="1">
                      <a:solidFill>
                        <a:srgbClr val="163A5F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anchorCtr="1"/>
                <a:lstStyle/>
                <a:p>
                  <a:pPr>
                    <a:defRPr sz="1875" b="1">
                      <a:solidFill>
                        <a:srgbClr val="163A5F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anchorCtr="1"/>
                <a:lstStyle/>
                <a:p>
                  <a:pPr>
                    <a:defRPr sz="1875" b="1">
                      <a:solidFill>
                        <a:srgbClr val="163A5F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anchorCtr="1"/>
                <a:lstStyle/>
                <a:p>
                  <a:pPr>
                    <a:defRPr sz="2550" b="1">
                      <a:solidFill>
                        <a:srgbClr val="F28C28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anchorCtr="1"/>
                <a:lstStyle/>
                <a:p>
                  <a:pPr>
                    <a:defRPr sz="1875" b="1">
                      <a:solidFill>
                        <a:srgbClr val="163A5F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anchorCtr="1"/>
                <a:lstStyle/>
                <a:p>
                  <a:pPr>
                    <a:defRPr sz="1875" b="1">
                      <a:solidFill>
                        <a:srgbClr val="163A5F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anchorCtr="1"/>
                <a:lstStyle/>
                <a:p>
                  <a:pPr>
                    <a:defRPr sz="1875" b="1">
                      <a:solidFill>
                        <a:srgbClr val="163A5F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'Chart Data'!$B$2:$B$9</c:f>
              <c:numCache>
                <c:formatCode>#,##0</c:formatCode>
                <c:ptCount val="8"/>
                <c:pt idx="0">
                  <c:v>372</c:v>
                </c:pt>
                <c:pt idx="1">
                  <c:v>286</c:v>
                </c:pt>
                <c:pt idx="2">
                  <c:v>473</c:v>
                </c:pt>
                <c:pt idx="3">
                  <c:v>494</c:v>
                </c:pt>
                <c:pt idx="4">
                  <c:v>572</c:v>
                </c:pt>
                <c:pt idx="5">
                  <c:v>551</c:v>
                </c:pt>
                <c:pt idx="6">
                  <c:v>541</c:v>
                </c:pt>
                <c:pt idx="7">
                  <c:v>460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875" b="1">
                  <a:solidFill>
                    <a:srgbClr val="163A5F"/>
                  </a:solidFill>
                  <a:latin typeface="Noto Sans CJK TC"/>
                  <a:ea typeface="Noto Sans CJK TC"/>
                  <a:cs typeface="Noto Sans CJK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w="9525">
            <a:solidFill>
              <a:srgbClr val="DCE8F1"/>
            </a:solidFill>
          </a:ln>
        </c:spPr>
        <c:txPr>
          <a:bodyPr anchorCtr="1"/>
          <a:lstStyle/>
          <a:p>
            <a:pPr>
              <a:defRPr sz="1875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</a:p>
        </c:txPr>
        <c:crossAx val="48672768"/>
      </c:catAx>
      <c:valAx>
        <c:axId val="48672768"/>
        <c:scaling>
          <c:orientation val="minMax"/>
          <c:max val="650"/>
          <c:min val="0"/>
        </c:scaling>
        <c:delete val="0"/>
        <c:axPos val="l"/>
        <c:majorGridlines>
          <c:spPr>
            <a:ln w="9525">
              <a:solidFill>
                <a:srgbClr val="E3ECEE"/>
              </a:solidFill>
            </a:ln>
          </c:spPr>
        </c:majorGridlines>
        <c:numFmt formatCode="#,##0"/>
        <c:majorTickMark val="none"/>
        <c:minorTickMark val="none"/>
        <c:spPr>
          <a:ln w="0">
            <a:noFill/>
          </a:ln>
        </c:spPr>
        <c:txPr>
          <a:bodyPr anchorCtr="1"/>
          <a:lstStyle/>
          <a:p>
            <a:pPr>
              <a:defRPr sz="150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</a:p>
        </c:txPr>
        <c:crossAx val="48650112"/>
        <c:crossBetween val="between"/>
        <c:majorUnit val="20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453fe0263418c"/>
          <a:stretch xmlns:a="http://schemas.openxmlformats.org/drawingml/2006/main"/>
        </p:blipFill>
        <p:spPr>
          <a:xfrm xmlns:a="http://schemas.openxmlformats.org/drawingml/2006/main">
            <a:off x="5486400" y="1371600"/>
            <a:ext cx="6286500" cy="4191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450FE-12E4-4C65-971C-803DDB37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跨域連結、智慧照護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A5C04-F2C3-43E6-9390-16B96DAF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5476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高雄長庚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7F77E-9B66-49D6-AA8A-F786139E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5476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遠距醫療服務網絡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36F0E-4FF9-4A12-AD5E-7AE081DA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523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建置與成果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46D17-E01C-473B-AD3C-5BBB78C6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高雄長庚紀念醫院</a:t>
            </a:r>
          </a:p>
          <a:p xmlns:a="http://schemas.openxmlformats.org/drawingml/2006/main">
            <a:pPr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2026 遠距醫療服務成果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9D3CC-9E45-4D9C-BC80-46FF4639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93C28-5DBD-4C42-BA77-EB87BC3E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8647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報告單位 〔待補資料〕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06680-120F-4CD4-8B5B-14000216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08647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報告人 〔待補資料〕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52272-4BA0-4384-B7C5-ECA1A6F6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0864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日期 〔待補資料〕</a:t>
            </a:r>
          </a:p>
        </p:txBody>
      </p:sp>
    </p:spTree>
    <p:extLst>
      <p:ext uri="{BB962C8B-B14F-4D97-AF65-F5344CB8AC3E}">
        <p14:creationId xmlns:p14="http://schemas.microsoft.com/office/powerpoint/2010/main" val="24447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3d80f4bc64a8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10064204-51E4-4EB1-8AFF-A7603247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62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3" name="成果摘要">
            <a:extLst xmlns:a="http://schemas.openxmlformats.org/drawingml/2006/main">
              <a:ext uri="{FF2B5EF4-FFF2-40B4-BE49-F238E27FC236}">
                <a16:creationId xmlns:a16="http://schemas.microsoft.com/office/drawing/2014/main" id="{5CC0DCE8-5745-41BA-96D8-E722E8B9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成果摘要</a:t>
            </a:r>
          </a:p>
        </p:txBody>
      </p:sp>
      <p:sp>
        <p:nvSpPr>
          <p:cNvPr id="4" name="跨院所服務，結合在地照護與數位管理">
            <a:extLst xmlns:a="http://schemas.openxmlformats.org/drawingml/2006/main">
              <a:ext uri="{FF2B5EF4-FFF2-40B4-BE49-F238E27FC236}">
                <a16:creationId xmlns:a16="http://schemas.microsoft.com/office/drawing/2014/main" id="{86675FEA-660E-48C6-A794-1F9057B7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跨院所服務，結合在地照護與數位管理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3F79C-A3CA-44ED-95D9-1513209A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6" name="高雄長庚紀念醫院　遠距醫療服務成果">
            <a:extLst xmlns:a="http://schemas.openxmlformats.org/drawingml/2006/main">
              <a:ext uri="{FF2B5EF4-FFF2-40B4-BE49-F238E27FC236}">
                <a16:creationId xmlns:a16="http://schemas.microsoft.com/office/drawing/2014/main" id="{EC3A2EAB-01AA-4C63-9F8C-4FEE70C7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高雄長庚紀念醫院　遠距醫療服務成果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CE92CF08-ADDC-4276-9924-30B648FB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8" name="4,217">
            <a:extLst xmlns:a="http://schemas.openxmlformats.org/drawingml/2006/main">
              <a:ext uri="{FF2B5EF4-FFF2-40B4-BE49-F238E27FC236}">
                <a16:creationId xmlns:a16="http://schemas.microsoft.com/office/drawing/2014/main" id="{316A064B-D1A5-4D62-96F0-D5C6EF35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5048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2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4,217</a:t>
            </a:r>
          </a:p>
        </p:txBody>
      </p:sp>
      <p:sp>
        <p:nvSpPr>
          <p:cNvPr id="9" name="2026年1–8月服務人次">
            <a:extLst xmlns:a="http://schemas.openxmlformats.org/drawingml/2006/main">
              <a:ext uri="{FF2B5EF4-FFF2-40B4-BE49-F238E27FC236}">
                <a16:creationId xmlns:a16="http://schemas.microsoft.com/office/drawing/2014/main" id="{455F6291-91D3-4F4C-8CD4-078B3A23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2026年1–8月服務人次</a:t>
            </a:r>
          </a:p>
        </p:txBody>
      </p:sp>
      <p:sp>
        <p:nvSpPr>
          <p:cNvPr id="10" name="對外報告口徑，含腦中風468人次">
            <a:extLst xmlns:a="http://schemas.openxmlformats.org/drawingml/2006/main">
              <a:ext uri="{FF2B5EF4-FFF2-40B4-BE49-F238E27FC236}">
                <a16:creationId xmlns:a16="http://schemas.microsoft.com/office/drawing/2014/main" id="{7509356E-E6F7-41CA-9CED-533AAF98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對外報告口徑，含腦中風468人次</a:t>
            </a:r>
          </a:p>
        </p:txBody>
      </p:sp>
      <p:sp>
        <p:nvSpPr>
          <p:cNvPr id="11" name="23 家">
            <a:extLst xmlns:a="http://schemas.openxmlformats.org/drawingml/2006/main">
              <a:ext uri="{FF2B5EF4-FFF2-40B4-BE49-F238E27FC236}">
                <a16:creationId xmlns:a16="http://schemas.microsoft.com/office/drawing/2014/main" id="{6DFCB631-2C52-4491-9428-D1D47AD8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23 家</a:t>
            </a:r>
          </a:p>
        </p:txBody>
      </p:sp>
      <p:sp>
        <p:nvSpPr>
          <p:cNvPr id="12" name="合作院所／場域">
            <a:extLst xmlns:a="http://schemas.openxmlformats.org/drawingml/2006/main">
              <a:ext uri="{FF2B5EF4-FFF2-40B4-BE49-F238E27FC236}">
                <a16:creationId xmlns:a16="http://schemas.microsoft.com/office/drawing/2014/main" id="{788538AF-8F9A-4069-A83C-AD9665FB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合作院所／場域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A6FE8-0971-40E8-A339-EC01AA05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90925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14" name="至少 8 類">
            <a:extLst xmlns:a="http://schemas.openxmlformats.org/drawingml/2006/main">
              <a:ext uri="{FF2B5EF4-FFF2-40B4-BE49-F238E27FC236}">
                <a16:creationId xmlns:a16="http://schemas.microsoft.com/office/drawing/2014/main" id="{FF45C0D7-887D-4746-B7A4-9D9EA919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95725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至少 8 類</a:t>
            </a:r>
          </a:p>
        </p:txBody>
      </p:sp>
      <p:sp>
        <p:nvSpPr>
          <p:cNvPr id="15" name="服務專科">
            <a:extLst xmlns:a="http://schemas.openxmlformats.org/drawingml/2006/main">
              <a:ext uri="{FF2B5EF4-FFF2-40B4-BE49-F238E27FC236}">
                <a16:creationId xmlns:a16="http://schemas.microsoft.com/office/drawing/2014/main" id="{142504B7-6B61-4DE1-B22C-A7BF9B22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服務專科</a:t>
            </a:r>
          </a:p>
        </p:txBody>
      </p:sp>
      <p:sp>
        <p:nvSpPr>
          <p:cNvPr id="16" name="5個主要區域　6家急診合作醫院　8家屏東衛生所">
            <a:extLst xmlns:a="http://schemas.openxmlformats.org/drawingml/2006/main">
              <a:ext uri="{FF2B5EF4-FFF2-40B4-BE49-F238E27FC236}">
                <a16:creationId xmlns:a16="http://schemas.microsoft.com/office/drawing/2014/main" id="{3C4BB9F1-897B-495D-8058-D93E36BD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5個主要區域　6家急診合作醫院　8家屏東衛生所</a:t>
            </a:r>
          </a:p>
        </p:txBody>
      </p:sp>
    </p:spTree>
    <p:extLst>
      <p:ext uri="{BB962C8B-B14F-4D97-AF65-F5344CB8AC3E}">
        <p14:creationId xmlns:p14="http://schemas.microsoft.com/office/powerpoint/2010/main" val="5269530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03">
            <a:extLst xmlns:a="http://schemas.openxmlformats.org/drawingml/2006/main">
              <a:ext uri="{FF2B5EF4-FFF2-40B4-BE49-F238E27FC236}">
                <a16:creationId xmlns:a16="http://schemas.microsoft.com/office/drawing/2014/main" id="{BB861287-0351-46D2-9276-11FE90BC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62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2" name="服務背景">
            <a:extLst xmlns:a="http://schemas.openxmlformats.org/drawingml/2006/main">
              <a:ext uri="{FF2B5EF4-FFF2-40B4-BE49-F238E27FC236}">
                <a16:creationId xmlns:a16="http://schemas.microsoft.com/office/drawing/2014/main" id="{83C75067-FE56-453E-B351-4D71BE96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服務背景</a:t>
            </a:r>
          </a:p>
        </p:txBody>
      </p:sp>
      <p:sp>
        <p:nvSpPr>
          <p:cNvPr id="3" name="偏鄉、離島與特殊場域的專科需求">
            <a:extLst xmlns:a="http://schemas.openxmlformats.org/drawingml/2006/main">
              <a:ext uri="{FF2B5EF4-FFF2-40B4-BE49-F238E27FC236}">
                <a16:creationId xmlns:a16="http://schemas.microsoft.com/office/drawing/2014/main" id="{25CAA26A-1896-401B-8666-A4D6287B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偏鄉、離島與特殊場域的專科需求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E1A82-62C0-430E-9BF8-06F0A439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5" name="高雄長庚紀念醫院　遠距醫療服務成果">
            <a:extLst xmlns:a="http://schemas.openxmlformats.org/drawingml/2006/main">
              <a:ext uri="{FF2B5EF4-FFF2-40B4-BE49-F238E27FC236}">
                <a16:creationId xmlns:a16="http://schemas.microsoft.com/office/drawing/2014/main" id="{696647E0-72DE-45CB-8096-4E28B0D7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高雄長庚紀念醫院　遠距醫療服務成果</a:t>
            </a:r>
          </a:p>
        </p:txBody>
      </p:sp>
      <p:sp>
        <p:nvSpPr>
          <p:cNvPr id="6" name="03">
            <a:extLst xmlns:a="http://schemas.openxmlformats.org/drawingml/2006/main">
              <a:ext uri="{FF2B5EF4-FFF2-40B4-BE49-F238E27FC236}">
                <a16:creationId xmlns:a16="http://schemas.microsoft.com/office/drawing/2014/main" id="{B15724BA-5112-48BE-A770-28C21A88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30ece95d1433c"/>
          <a:stretch xmlns:a="http://schemas.openxmlformats.org/drawingml/2006/main"/>
        </p:blipFill>
        <p:spPr>
          <a:xfrm xmlns:a="http://schemas.openxmlformats.org/drawingml/2006/main">
            <a:off x="6048375" y="2171700"/>
            <a:ext cx="5429250" cy="3619500"/>
          </a:xfrm>
          <a:prstGeom xmlns:a="http://schemas.openxmlformats.org/drawingml/2006/main" prst="rect">
            <a:avLst/>
          </a:prstGeom>
        </p:spPr>
      </p:pic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C0FEDD72-0B22-40A9-9E1D-A7EFE614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9" name="距離與專科資源">
            <a:extLst xmlns:a="http://schemas.openxmlformats.org/drawingml/2006/main">
              <a:ext uri="{FF2B5EF4-FFF2-40B4-BE49-F238E27FC236}">
                <a16:creationId xmlns:a16="http://schemas.microsoft.com/office/drawing/2014/main" id="{0BE5D473-C7FF-4249-B675-B48911F5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距離與專科資源</a:t>
            </a:r>
          </a:p>
        </p:txBody>
      </p:sp>
      <p:sp>
        <p:nvSpPr>
          <p:cNvPr id="10" name="偏鄉與離島取得專科支援">
            <a:extLst xmlns:a="http://schemas.openxmlformats.org/drawingml/2006/main">
              <a:ext uri="{FF2B5EF4-FFF2-40B4-BE49-F238E27FC236}">
                <a16:creationId xmlns:a16="http://schemas.microsoft.com/office/drawing/2014/main" id="{2B64178A-7F9B-482D-98E5-F0F2BEDE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57475"/>
            <a:ext cx="457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偏鄉與離島取得專科支援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2198B-0521-4999-BA60-A673B0CA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813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12" name="02">
            <a:extLst xmlns:a="http://schemas.openxmlformats.org/drawingml/2006/main">
              <a:ext uri="{FF2B5EF4-FFF2-40B4-BE49-F238E27FC236}">
                <a16:creationId xmlns:a16="http://schemas.microsoft.com/office/drawing/2014/main" id="{7E59DA86-1496-469D-8FA6-6A3E45EE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3" name="移動受限的場域">
            <a:extLst xmlns:a="http://schemas.openxmlformats.org/drawingml/2006/main">
              <a:ext uri="{FF2B5EF4-FFF2-40B4-BE49-F238E27FC236}">
                <a16:creationId xmlns:a16="http://schemas.microsoft.com/office/drawing/2014/main" id="{C84D2A83-C0E3-475A-83D8-2F7B7D54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5757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移動受限的場域</a:t>
            </a:r>
          </a:p>
        </p:txBody>
      </p:sp>
      <p:sp>
        <p:nvSpPr>
          <p:cNvPr id="14" name="居家、長照與監所的會診需求">
            <a:extLst xmlns:a="http://schemas.openxmlformats.org/drawingml/2006/main">
              <a:ext uri="{FF2B5EF4-FFF2-40B4-BE49-F238E27FC236}">
                <a16:creationId xmlns:a16="http://schemas.microsoft.com/office/drawing/2014/main" id="{8529795B-ADCF-4CFE-8F09-4E6C36B9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62400"/>
            <a:ext cx="457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居家、長照與監所的會診需求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70B8B-B5BF-4F42-81E3-E1258AAB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86275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16" name="03">
            <a:extLst xmlns:a="http://schemas.openxmlformats.org/drawingml/2006/main">
              <a:ext uri="{FF2B5EF4-FFF2-40B4-BE49-F238E27FC236}">
                <a16:creationId xmlns:a16="http://schemas.microsoft.com/office/drawing/2014/main" id="{20E07C82-F08E-4BC1-B1C6-A1759658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7" name="跨院流程的銜接">
            <a:extLst xmlns:a="http://schemas.openxmlformats.org/drawingml/2006/main">
              <a:ext uri="{FF2B5EF4-FFF2-40B4-BE49-F238E27FC236}">
                <a16:creationId xmlns:a16="http://schemas.microsoft.com/office/drawing/2014/main" id="{C503863F-4B50-41E8-97A0-D64AE83B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62500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跨院流程的銜接</a:t>
            </a:r>
          </a:p>
        </p:txBody>
      </p:sp>
      <p:sp>
        <p:nvSpPr>
          <p:cNvPr id="18" name="排程、申報與資料管理制度化">
            <a:extLst xmlns:a="http://schemas.openxmlformats.org/drawingml/2006/main">
              <a:ext uri="{FF2B5EF4-FFF2-40B4-BE49-F238E27FC236}">
                <a16:creationId xmlns:a16="http://schemas.microsoft.com/office/drawing/2014/main" id="{CBF97343-5000-496E-BFDF-382F7538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67325"/>
            <a:ext cx="457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排程、申報與資料管理制度化</a:t>
            </a:r>
          </a:p>
        </p:txBody>
      </p:sp>
    </p:spTree>
    <p:extLst>
      <p:ext uri="{BB962C8B-B14F-4D97-AF65-F5344CB8AC3E}">
        <p14:creationId xmlns:p14="http://schemas.microsoft.com/office/powerpoint/2010/main" val="13850187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81905d1a64f1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1022462C-BEC3-4559-A13F-ABC1EC8A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62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3" name="策略目標">
            <a:extLst xmlns:a="http://schemas.openxmlformats.org/drawingml/2006/main">
              <a:ext uri="{FF2B5EF4-FFF2-40B4-BE49-F238E27FC236}">
                <a16:creationId xmlns:a16="http://schemas.microsoft.com/office/drawing/2014/main" id="{F5681BC7-DF8A-4A04-B06D-9FCB4D4C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策略目標</a:t>
            </a:r>
          </a:p>
        </p:txBody>
      </p:sp>
      <p:sp>
        <p:nvSpPr>
          <p:cNvPr id="4" name="以服務可近性、協作與管理形成持續運作的基礎">
            <a:extLst xmlns:a="http://schemas.openxmlformats.org/drawingml/2006/main">
              <a:ext uri="{FF2B5EF4-FFF2-40B4-BE49-F238E27FC236}">
                <a16:creationId xmlns:a16="http://schemas.microsoft.com/office/drawing/2014/main" id="{29A564F0-E038-44D0-AF60-5F41B7E9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以服務可近性、協作與管理形成持續運作的基礎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9DB79-E70F-40A9-8813-FC96535B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6" name="高雄長庚紀念醫院　遠距醫療服務成果">
            <a:extLst xmlns:a="http://schemas.openxmlformats.org/drawingml/2006/main">
              <a:ext uri="{FF2B5EF4-FFF2-40B4-BE49-F238E27FC236}">
                <a16:creationId xmlns:a16="http://schemas.microsoft.com/office/drawing/2014/main" id="{766DE548-244F-40E0-8288-66812A41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高雄長庚紀念醫院　遠距醫療服務成果</a:t>
            </a:r>
          </a:p>
        </p:txBody>
      </p:sp>
      <p:sp>
        <p:nvSpPr>
          <p:cNvPr id="7" name="04">
            <a:extLst xmlns:a="http://schemas.openxmlformats.org/drawingml/2006/main">
              <a:ext uri="{FF2B5EF4-FFF2-40B4-BE49-F238E27FC236}">
                <a16:creationId xmlns:a16="http://schemas.microsoft.com/office/drawing/2014/main" id="{7354CA2C-700A-4E3A-9C7C-877237F6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B3E7B1A5-72DA-46B8-830C-24082876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800" b="0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43303-D9A5-4376-A8B5-B6E24904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924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10" name="提升可近性">
            <a:extLst xmlns:a="http://schemas.openxmlformats.org/drawingml/2006/main">
              <a:ext uri="{FF2B5EF4-FFF2-40B4-BE49-F238E27FC236}">
                <a16:creationId xmlns:a16="http://schemas.microsoft.com/office/drawing/2014/main" id="{529EE599-5B4D-473B-AE03-B699F492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提升可近性</a:t>
            </a:r>
          </a:p>
        </p:txBody>
      </p:sp>
      <p:sp>
        <p:nvSpPr>
          <p:cNvPr id="11" name="專科支援延伸至&#10;偏鄉、離島及特殊場域">
            <a:extLst xmlns:a="http://schemas.openxmlformats.org/drawingml/2006/main">
              <a:ext uri="{FF2B5EF4-FFF2-40B4-BE49-F238E27FC236}">
                <a16:creationId xmlns:a16="http://schemas.microsoft.com/office/drawing/2014/main" id="{66CFB8D4-5B57-46EF-859C-02F8124A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91025"/>
            <a:ext cx="34480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專科支援延伸至</a:t>
            </a:r>
          </a:p>
          <a:p xmlns:a="http://schemas.openxmlformats.org/drawingml/2006/main">
            <a:pPr algn="l">
              <a:defRPr sz="2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偏鄉、離島及特殊場域</a:t>
            </a:r>
          </a:p>
        </p:txBody>
      </p:sp>
      <p:sp>
        <p:nvSpPr>
          <p:cNvPr id="12" name="02">
            <a:extLst xmlns:a="http://schemas.openxmlformats.org/drawingml/2006/main">
              <a:ext uri="{FF2B5EF4-FFF2-40B4-BE49-F238E27FC236}">
                <a16:creationId xmlns:a16="http://schemas.microsoft.com/office/drawing/2014/main" id="{B1B99492-53B1-440C-B7AD-0183310E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8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1C22B-E616-4E14-80A2-62A8F39C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52800"/>
            <a:ext cx="2924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14" name="建立跨域協作">
            <a:extLst xmlns:a="http://schemas.openxmlformats.org/drawingml/2006/main">
              <a:ext uri="{FF2B5EF4-FFF2-40B4-BE49-F238E27FC236}">
                <a16:creationId xmlns:a16="http://schemas.microsoft.com/office/drawing/2014/main" id="{D3BE4696-A1A1-4025-B3B4-7D794F86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576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建立跨域協作</a:t>
            </a:r>
          </a:p>
        </p:txBody>
      </p:sp>
      <p:sp>
        <p:nvSpPr>
          <p:cNvPr id="15" name="串連醫院、衛生所、&#10;急診及照護團隊">
            <a:extLst xmlns:a="http://schemas.openxmlformats.org/drawingml/2006/main">
              <a:ext uri="{FF2B5EF4-FFF2-40B4-BE49-F238E27FC236}">
                <a16:creationId xmlns:a16="http://schemas.microsoft.com/office/drawing/2014/main" id="{E0BF7406-45B2-45BA-8E41-266D5E13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91025"/>
            <a:ext cx="34480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串連醫院、衛生所、</a:t>
            </a:r>
          </a:p>
          <a:p xmlns:a="http://schemas.openxmlformats.org/drawingml/2006/main">
            <a:pPr algn="l">
              <a:defRPr sz="2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急診及照護團隊</a:t>
            </a:r>
          </a:p>
        </p:txBody>
      </p:sp>
      <p:sp>
        <p:nvSpPr>
          <p:cNvPr id="16" name="03">
            <a:extLst xmlns:a="http://schemas.openxmlformats.org/drawingml/2006/main">
              <a:ext uri="{FF2B5EF4-FFF2-40B4-BE49-F238E27FC236}">
                <a16:creationId xmlns:a16="http://schemas.microsoft.com/office/drawing/2014/main" id="{04B4A625-FF58-45E1-B18F-D42236DF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8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8B639-6B06-4F49-952B-1ABC84BC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924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18" name="推動數位化管理">
            <a:extLst xmlns:a="http://schemas.openxmlformats.org/drawingml/2006/main">
              <a:ext uri="{FF2B5EF4-FFF2-40B4-BE49-F238E27FC236}">
                <a16:creationId xmlns:a16="http://schemas.microsoft.com/office/drawing/2014/main" id="{39C72739-E232-4601-AFDF-B29019D2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576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推動數位化管理</a:t>
            </a:r>
          </a:p>
        </p:txBody>
      </p:sp>
      <p:sp>
        <p:nvSpPr>
          <p:cNvPr id="19" name="標準化排程與申報&#10;銜接HIS及後續AI應用">
            <a:extLst xmlns:a="http://schemas.openxmlformats.org/drawingml/2006/main">
              <a:ext uri="{FF2B5EF4-FFF2-40B4-BE49-F238E27FC236}">
                <a16:creationId xmlns:a16="http://schemas.microsoft.com/office/drawing/2014/main" id="{66DD40FF-907E-4461-A119-EAFF1BEF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91025"/>
            <a:ext cx="34480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標準化排程與申報</a:t>
            </a:r>
          </a:p>
          <a:p xmlns:a="http://schemas.openxmlformats.org/drawingml/2006/main">
            <a:pPr algn="l">
              <a:defRPr sz="2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銜接HIS及後續AI應用</a:t>
            </a:r>
          </a:p>
        </p:txBody>
      </p:sp>
    </p:spTree>
    <p:extLst>
      <p:ext uri="{BB962C8B-B14F-4D97-AF65-F5344CB8AC3E}">
        <p14:creationId xmlns:p14="http://schemas.microsoft.com/office/powerpoint/2010/main" val="12941102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05">
            <a:extLst xmlns:a="http://schemas.openxmlformats.org/drawingml/2006/main">
              <a:ext uri="{FF2B5EF4-FFF2-40B4-BE49-F238E27FC236}">
                <a16:creationId xmlns:a16="http://schemas.microsoft.com/office/drawing/2014/main" id="{720A57EE-09FD-4A6A-B3AC-A28CBA06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62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2" name="發展歷程">
            <a:extLst xmlns:a="http://schemas.openxmlformats.org/drawingml/2006/main">
              <a:ext uri="{FF2B5EF4-FFF2-40B4-BE49-F238E27FC236}">
                <a16:creationId xmlns:a16="http://schemas.microsoft.com/office/drawing/2014/main" id="{391C9D79-BDF3-46F3-AEE4-812101BA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發展歷程</a:t>
            </a:r>
          </a:p>
        </p:txBody>
      </p:sp>
      <p:sp>
        <p:nvSpPr>
          <p:cNvPr id="3" name="從偏鄉專科合作，累積服務與營運管理經驗">
            <a:extLst xmlns:a="http://schemas.openxmlformats.org/drawingml/2006/main">
              <a:ext uri="{FF2B5EF4-FFF2-40B4-BE49-F238E27FC236}">
                <a16:creationId xmlns:a16="http://schemas.microsoft.com/office/drawing/2014/main" id="{E0DCEE96-379F-4597-A1C7-22D88035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從偏鄉專科合作，累積服務與營運管理經驗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35CC0-401D-4073-8E00-0F265537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5" name="高雄長庚紀念醫院　遠距醫療服務成果">
            <a:extLst xmlns:a="http://schemas.openxmlformats.org/drawingml/2006/main">
              <a:ext uri="{FF2B5EF4-FFF2-40B4-BE49-F238E27FC236}">
                <a16:creationId xmlns:a16="http://schemas.microsoft.com/office/drawing/2014/main" id="{2B8B8421-D359-4F3B-8CE5-5CB77AFD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高雄長庚紀念醫院　遠距醫療服務成果</a:t>
            </a:r>
          </a:p>
        </p:txBody>
      </p:sp>
      <p:sp>
        <p:nvSpPr>
          <p:cNvPr id="6" name="05">
            <a:extLst xmlns:a="http://schemas.openxmlformats.org/drawingml/2006/main">
              <a:ext uri="{FF2B5EF4-FFF2-40B4-BE49-F238E27FC236}">
                <a16:creationId xmlns:a16="http://schemas.microsoft.com/office/drawing/2014/main" id="{B0414766-2052-4A92-BF0F-F786F770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53B53C-204D-4288-9D02-3DF66FDD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38500"/>
            <a:ext cx="1023937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A6C9C8"/>
            </a:solidFill>
          </a:ln>
        </p:spPr>
      </p:sp>
      <p:sp>
        <p:nvSpPr>
          <p:cNvPr id="36" name="服務累積">
            <a:extLst xmlns:a="http://schemas.openxmlformats.org/drawingml/2006/main">
              <a:ext uri="{FF2B5EF4-FFF2-40B4-BE49-F238E27FC236}">
                <a16:creationId xmlns:a16="http://schemas.microsoft.com/office/drawing/2014/main" id="{01FEB2AD-734B-4913-AAF7-70C598B4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24075"/>
            <a:ext cx="2905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服務累積</a:t>
            </a:r>
          </a:p>
        </p:txBody>
      </p:sp>
      <p:sp>
        <p:nvSpPr>
          <p:cNvPr id="37" name="Dashboard">
            <a:extLst xmlns:a="http://schemas.openxmlformats.org/drawingml/2006/main">
              <a:ext uri="{FF2B5EF4-FFF2-40B4-BE49-F238E27FC236}">
                <a16:creationId xmlns:a16="http://schemas.microsoft.com/office/drawing/2014/main" id="{D64EECB5-2610-4B5D-BA16-9AE96324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24075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Dashboard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4261FC-C991-4E1C-8141-C1CCF09C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8C8B"/>
            </a:solidFill>
          </a:ln>
        </p:spPr>
      </p:sp>
      <p:sp>
        <p:nvSpPr>
          <p:cNvPr id="39" name="2018">
            <a:extLst xmlns:a="http://schemas.openxmlformats.org/drawingml/2006/main">
              <a:ext uri="{FF2B5EF4-FFF2-40B4-BE49-F238E27FC236}">
                <a16:creationId xmlns:a16="http://schemas.microsoft.com/office/drawing/2014/main" id="{65A33522-6F9A-4D22-803B-3F7BA616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574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2018</a:t>
            </a:r>
          </a:p>
        </p:txBody>
      </p:sp>
      <p:sp>
        <p:nvSpPr>
          <p:cNvPr id="40" name="成功分院">
            <a:extLst xmlns:a="http://schemas.openxmlformats.org/drawingml/2006/main">
              <a:ext uri="{FF2B5EF4-FFF2-40B4-BE49-F238E27FC236}">
                <a16:creationId xmlns:a16="http://schemas.microsoft.com/office/drawing/2014/main" id="{C287D471-16B7-4C67-BB31-BD9B210B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成功分院</a:t>
            </a:r>
          </a:p>
        </p:txBody>
      </p:sp>
      <p:sp>
        <p:nvSpPr>
          <p:cNvPr id="41" name="合作起步">
            <a:extLst xmlns:a="http://schemas.openxmlformats.org/drawingml/2006/main">
              <a:ext uri="{FF2B5EF4-FFF2-40B4-BE49-F238E27FC236}">
                <a16:creationId xmlns:a16="http://schemas.microsoft.com/office/drawing/2014/main" id="{EA12794E-3EDC-4B88-A4EC-C4657BF7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合作起步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69265D-2D47-4E75-B177-E9273422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C9C8"/>
            </a:solidFill>
          </a:ln>
        </p:spPr>
      </p:sp>
      <p:sp>
        <p:nvSpPr>
          <p:cNvPr id="43" name="2024">
            <a:extLst xmlns:a="http://schemas.openxmlformats.org/drawingml/2006/main">
              <a:ext uri="{FF2B5EF4-FFF2-40B4-BE49-F238E27FC236}">
                <a16:creationId xmlns:a16="http://schemas.microsoft.com/office/drawing/2014/main" id="{AC359B1E-01B8-4F3C-9E9D-05B62AF6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574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2024</a:t>
            </a:r>
          </a:p>
        </p:txBody>
      </p:sp>
      <p:sp>
        <p:nvSpPr>
          <p:cNvPr id="44" name="全年服務量">
            <a:extLst xmlns:a="http://schemas.openxmlformats.org/drawingml/2006/main">
              <a:ext uri="{FF2B5EF4-FFF2-40B4-BE49-F238E27FC236}">
                <a16:creationId xmlns:a16="http://schemas.microsoft.com/office/drawing/2014/main" id="{725677E6-EE27-4DEB-8E02-1D61D9D5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57600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全年服務量</a:t>
            </a:r>
          </a:p>
        </p:txBody>
      </p:sp>
      <p:sp>
        <p:nvSpPr>
          <p:cNvPr id="45" name="5,788人次">
            <a:extLst xmlns:a="http://schemas.openxmlformats.org/drawingml/2006/main">
              <a:ext uri="{FF2B5EF4-FFF2-40B4-BE49-F238E27FC236}">
                <a16:creationId xmlns:a16="http://schemas.microsoft.com/office/drawing/2014/main" id="{5D52CB42-D546-4BF0-A75C-3AD82C09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5290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5,788人次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5C324B-0CE5-488E-9892-89E7378A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C9C8"/>
            </a:solidFill>
          </a:ln>
        </p:spPr>
      </p:sp>
      <p:sp>
        <p:nvSpPr>
          <p:cNvPr id="47" name="2025">
            <a:extLst xmlns:a="http://schemas.openxmlformats.org/drawingml/2006/main">
              <a:ext uri="{FF2B5EF4-FFF2-40B4-BE49-F238E27FC236}">
                <a16:creationId xmlns:a16="http://schemas.microsoft.com/office/drawing/2014/main" id="{72BB6B42-160C-40D2-BE65-D2F3BE12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574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2025</a:t>
            </a:r>
          </a:p>
        </p:txBody>
      </p:sp>
      <p:sp>
        <p:nvSpPr>
          <p:cNvPr id="48" name="全年服務量">
            <a:extLst xmlns:a="http://schemas.openxmlformats.org/drawingml/2006/main">
              <a:ext uri="{FF2B5EF4-FFF2-40B4-BE49-F238E27FC236}">
                <a16:creationId xmlns:a16="http://schemas.microsoft.com/office/drawing/2014/main" id="{095B69A5-F164-4539-BAE0-4800A807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57600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全年服務量</a:t>
            </a:r>
          </a:p>
        </p:txBody>
      </p:sp>
      <p:sp>
        <p:nvSpPr>
          <p:cNvPr id="49" name="4,754人次">
            <a:extLst xmlns:a="http://schemas.openxmlformats.org/drawingml/2006/main">
              <a:ext uri="{FF2B5EF4-FFF2-40B4-BE49-F238E27FC236}">
                <a16:creationId xmlns:a16="http://schemas.microsoft.com/office/drawing/2014/main" id="{9B54883F-59EC-4FD7-91DF-449B5F31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5290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4,754人次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853F40-7E4C-49B3-B0AA-7908F16B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8C8B"/>
            </a:solidFill>
          </a:ln>
        </p:spPr>
      </p:sp>
      <p:sp>
        <p:nvSpPr>
          <p:cNvPr id="51" name="2026.04">
            <a:extLst xmlns:a="http://schemas.openxmlformats.org/drawingml/2006/main">
              <a:ext uri="{FF2B5EF4-FFF2-40B4-BE49-F238E27FC236}">
                <a16:creationId xmlns:a16="http://schemas.microsoft.com/office/drawing/2014/main" id="{B07D6603-2FFF-42FF-9830-D2D7C8B9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574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2026.04</a:t>
            </a:r>
          </a:p>
        </p:txBody>
      </p:sp>
      <p:sp>
        <p:nvSpPr>
          <p:cNvPr id="52" name="門診表自動化">
            <a:extLst xmlns:a="http://schemas.openxmlformats.org/drawingml/2006/main">
              <a:ext uri="{FF2B5EF4-FFF2-40B4-BE49-F238E27FC236}">
                <a16:creationId xmlns:a16="http://schemas.microsoft.com/office/drawing/2014/main" id="{B0E0801D-DF42-486C-9B36-867A6AE3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57600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門診表自動化</a:t>
            </a:r>
          </a:p>
        </p:txBody>
      </p:sp>
      <p:sp>
        <p:nvSpPr>
          <p:cNvPr id="53" name="恆旅復健開診">
            <a:extLst xmlns:a="http://schemas.openxmlformats.org/drawingml/2006/main">
              <a:ext uri="{FF2B5EF4-FFF2-40B4-BE49-F238E27FC236}">
                <a16:creationId xmlns:a16="http://schemas.microsoft.com/office/drawing/2014/main" id="{4222693A-4B79-41C2-90C2-77D222FE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5290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恆旅復健開診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508047-3331-4B01-90F5-7225D1D3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8C8B"/>
            </a:solidFill>
          </a:ln>
        </p:spPr>
      </p:sp>
      <p:sp>
        <p:nvSpPr>
          <p:cNvPr id="55" name="2026.05">
            <a:extLst xmlns:a="http://schemas.openxmlformats.org/drawingml/2006/main">
              <a:ext uri="{FF2B5EF4-FFF2-40B4-BE49-F238E27FC236}">
                <a16:creationId xmlns:a16="http://schemas.microsoft.com/office/drawing/2014/main" id="{4D0A5116-0DA6-4E0A-BC4F-C49E1871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574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2026.05</a:t>
            </a:r>
          </a:p>
        </p:txBody>
      </p:sp>
      <p:sp>
        <p:nvSpPr>
          <p:cNvPr id="56" name="固定Excel模板">
            <a:extLst xmlns:a="http://schemas.openxmlformats.org/drawingml/2006/main">
              <a:ext uri="{FF2B5EF4-FFF2-40B4-BE49-F238E27FC236}">
                <a16:creationId xmlns:a16="http://schemas.microsoft.com/office/drawing/2014/main" id="{48CC3266-E5A3-4CEE-A371-2CC39DC6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57600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固定Excel模板</a:t>
            </a:r>
          </a:p>
        </p:txBody>
      </p:sp>
      <p:sp>
        <p:nvSpPr>
          <p:cNvPr id="57" name="HTML及A3報表">
            <a:extLst xmlns:a="http://schemas.openxmlformats.org/drawingml/2006/main">
              <a:ext uri="{FF2B5EF4-FFF2-40B4-BE49-F238E27FC236}">
                <a16:creationId xmlns:a16="http://schemas.microsoft.com/office/drawing/2014/main" id="{6D72026F-3928-4506-896B-1D56AE4D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5290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HTML及A3報表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583C45C-8FD4-4C2D-BAB2-71853B65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9525">
            <a:solidFill>
              <a:srgbClr val="2A8C8B"/>
            </a:solidFill>
          </a:ln>
        </p:spPr>
      </p:sp>
      <p:sp>
        <p:nvSpPr>
          <p:cNvPr id="59" name="2026.08">
            <a:extLst xmlns:a="http://schemas.openxmlformats.org/drawingml/2006/main">
              <a:ext uri="{FF2B5EF4-FFF2-40B4-BE49-F238E27FC236}">
                <a16:creationId xmlns:a16="http://schemas.microsoft.com/office/drawing/2014/main" id="{22BA8B5C-18AB-45BF-9806-9669F211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574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2026.08</a:t>
            </a:r>
          </a:p>
        </p:txBody>
      </p:sp>
      <p:sp>
        <p:nvSpPr>
          <p:cNvPr id="60" name="澎湖監獄">
            <a:extLst xmlns:a="http://schemas.openxmlformats.org/drawingml/2006/main">
              <a:ext uri="{FF2B5EF4-FFF2-40B4-BE49-F238E27FC236}">
                <a16:creationId xmlns:a16="http://schemas.microsoft.com/office/drawing/2014/main" id="{A9F65337-A752-4373-9544-3D207E1F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657600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澎湖監獄</a:t>
            </a:r>
          </a:p>
        </p:txBody>
      </p:sp>
      <p:sp>
        <p:nvSpPr>
          <p:cNvPr id="61" name="8月20日上線">
            <a:extLst xmlns:a="http://schemas.openxmlformats.org/drawingml/2006/main">
              <a:ext uri="{FF2B5EF4-FFF2-40B4-BE49-F238E27FC236}">
                <a16:creationId xmlns:a16="http://schemas.microsoft.com/office/drawing/2014/main" id="{432C65D2-228C-46AA-8B92-5D0CCA71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15290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8月20日上線</a:t>
            </a:r>
          </a:p>
        </p:txBody>
      </p:sp>
      <p:sp>
        <p:nvSpPr>
          <p:cNvPr id="62" name="後續方向">
            <a:extLst xmlns:a="http://schemas.openxmlformats.org/drawingml/2006/main">
              <a:ext uri="{FF2B5EF4-FFF2-40B4-BE49-F238E27FC236}">
                <a16:creationId xmlns:a16="http://schemas.microsoft.com/office/drawing/2014/main" id="{69254D63-C4C6-4984-BAD8-42E6EE47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後續方向</a:t>
            </a:r>
          </a:p>
        </p:txBody>
      </p:sp>
      <p:sp>
        <p:nvSpPr>
          <p:cNvPr id="63" name="Future Direction">
            <a:extLst xmlns:a="http://schemas.openxmlformats.org/drawingml/2006/main">
              <a:ext uri="{FF2B5EF4-FFF2-40B4-BE49-F238E27FC236}">
                <a16:creationId xmlns:a16="http://schemas.microsoft.com/office/drawing/2014/main" id="{1D4B0213-3AF4-427E-AEC5-15B20227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57800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Future Direction</a:t>
            </a:r>
          </a:p>
        </p:txBody>
      </p:sp>
      <p:sp>
        <p:nvSpPr>
          <p:cNvPr id="64" name="HIS介接執行中；FHIR、影音轉文字與AI列為未來規劃">
            <a:extLst xmlns:a="http://schemas.openxmlformats.org/drawingml/2006/main">
              <a:ext uri="{FF2B5EF4-FFF2-40B4-BE49-F238E27FC236}">
                <a16:creationId xmlns:a16="http://schemas.microsoft.com/office/drawing/2014/main" id="{E8951097-61D2-409E-AB48-9762A8A8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HIS介接執行中；FHIR、影音轉文字與AI列為未來規劃</a:t>
            </a:r>
          </a:p>
        </p:txBody>
      </p:sp>
    </p:spTree>
    <p:extLst>
      <p:ext uri="{BB962C8B-B14F-4D97-AF65-F5344CB8AC3E}">
        <p14:creationId xmlns:p14="http://schemas.microsoft.com/office/powerpoint/2010/main" val="6327248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F86BD0-96C1-492F-BA3F-37BED01E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62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F7EF1-4E66-43A8-8662-22907EEC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遠距醫療服務網絡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2EC0E-18BA-49DF-AD17-72652868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高雄長庚串聯合作院所</a:t>
            </a:r>
          </a:p>
        </p:txBody>
      </p:sp>
      <p:sp>
        <p:nvSpPr>
          <p:cNvPr id="4" name="Natural-Earth-Taiwan-outline-0">
            <a:extLst xmlns:a="http://schemas.openxmlformats.org/drawingml/2006/main">
              <a:ext uri="{FF2B5EF4-FFF2-40B4-BE49-F238E27FC236}">
                <a16:creationId xmlns:a16="http://schemas.microsoft.com/office/drawing/2014/main" id="{6A487820-70F4-407A-9A52-07FDBFC1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71625"/>
            <a:ext cx="3405569" cy="4664393"/>
          </a:xfrm>
          <a:custGeom xmlns:a="http://schemas.openxmlformats.org/drawingml/2006/main">
            <a:pathLst>
              <a:path w="3405569" h="4664393">
                <a:moveTo>
                  <a:pt x="3108520" y="591130"/>
                </a:moveTo>
                <a:lnTo>
                  <a:pt x="3022110" y="694368"/>
                </a:lnTo>
                <a:lnTo>
                  <a:pt x="3008451" y="716180"/>
                </a:lnTo>
                <a:lnTo>
                  <a:pt x="2997662" y="746655"/>
                </a:lnTo>
                <a:lnTo>
                  <a:pt x="2990635" y="781566"/>
                </a:lnTo>
                <a:lnTo>
                  <a:pt x="2988160" y="816263"/>
                </a:lnTo>
                <a:lnTo>
                  <a:pt x="2989348" y="849946"/>
                </a:lnTo>
                <a:lnTo>
                  <a:pt x="3004591" y="920197"/>
                </a:lnTo>
                <a:lnTo>
                  <a:pt x="3003700" y="938159"/>
                </a:lnTo>
                <a:lnTo>
                  <a:pt x="2997168" y="956123"/>
                </a:lnTo>
                <a:lnTo>
                  <a:pt x="2998058" y="992852"/>
                </a:lnTo>
                <a:lnTo>
                  <a:pt x="3013895" y="1021188"/>
                </a:lnTo>
                <a:lnTo>
                  <a:pt x="3043985" y="1039472"/>
                </a:lnTo>
                <a:lnTo>
                  <a:pt x="3079421" y="1045888"/>
                </a:lnTo>
                <a:lnTo>
                  <a:pt x="3079421" y="1054015"/>
                </a:lnTo>
                <a:lnTo>
                  <a:pt x="3064376" y="1052518"/>
                </a:lnTo>
                <a:lnTo>
                  <a:pt x="3050122" y="1053961"/>
                </a:lnTo>
                <a:lnTo>
                  <a:pt x="3038145" y="1057811"/>
                </a:lnTo>
                <a:lnTo>
                  <a:pt x="3029534" y="1063852"/>
                </a:lnTo>
                <a:lnTo>
                  <a:pt x="3041709" y="1086627"/>
                </a:lnTo>
                <a:lnTo>
                  <a:pt x="3047945" y="1116139"/>
                </a:lnTo>
                <a:lnTo>
                  <a:pt x="3044084" y="1141801"/>
                </a:lnTo>
                <a:lnTo>
                  <a:pt x="3016469" y="1157253"/>
                </a:lnTo>
                <a:lnTo>
                  <a:pt x="3014390" y="1168426"/>
                </a:lnTo>
                <a:lnTo>
                  <a:pt x="3017953" y="1182006"/>
                </a:lnTo>
                <a:lnTo>
                  <a:pt x="3025772" y="1194303"/>
                </a:lnTo>
                <a:lnTo>
                  <a:pt x="3028544" y="1207027"/>
                </a:lnTo>
                <a:lnTo>
                  <a:pt x="3016864" y="1217826"/>
                </a:lnTo>
                <a:lnTo>
                  <a:pt x="2988160" y="1234239"/>
                </a:lnTo>
                <a:lnTo>
                  <a:pt x="2955596" y="1270968"/>
                </a:lnTo>
                <a:lnTo>
                  <a:pt x="2954507" y="1285296"/>
                </a:lnTo>
                <a:lnTo>
                  <a:pt x="2956486" y="1317054"/>
                </a:lnTo>
                <a:lnTo>
                  <a:pt x="2951142" y="1329244"/>
                </a:lnTo>
                <a:lnTo>
                  <a:pt x="2945203" y="1339455"/>
                </a:lnTo>
                <a:lnTo>
                  <a:pt x="2941442" y="1354157"/>
                </a:lnTo>
                <a:lnTo>
                  <a:pt x="2939065" y="1383082"/>
                </a:lnTo>
                <a:lnTo>
                  <a:pt x="2936493" y="1390512"/>
                </a:lnTo>
                <a:lnTo>
                  <a:pt x="2931841" y="1396553"/>
                </a:lnTo>
                <a:lnTo>
                  <a:pt x="2929465" y="1402809"/>
                </a:lnTo>
                <a:lnTo>
                  <a:pt x="2934314" y="1410347"/>
                </a:lnTo>
                <a:lnTo>
                  <a:pt x="2935304" y="1411416"/>
                </a:lnTo>
                <a:lnTo>
                  <a:pt x="2938373" y="1414838"/>
                </a:lnTo>
                <a:lnTo>
                  <a:pt x="2942530" y="1421574"/>
                </a:lnTo>
                <a:lnTo>
                  <a:pt x="2945796" y="1428311"/>
                </a:lnTo>
                <a:lnTo>
                  <a:pt x="2946688" y="1433176"/>
                </a:lnTo>
                <a:lnTo>
                  <a:pt x="2940254" y="1444083"/>
                </a:lnTo>
                <a:lnTo>
                  <a:pt x="2913331" y="1469959"/>
                </a:lnTo>
                <a:lnTo>
                  <a:pt x="2884329" y="1509468"/>
                </a:lnTo>
                <a:lnTo>
                  <a:pt x="2862950" y="1526309"/>
                </a:lnTo>
                <a:lnTo>
                  <a:pt x="2856120" y="1535291"/>
                </a:lnTo>
                <a:lnTo>
                  <a:pt x="2859386" y="1544914"/>
                </a:lnTo>
                <a:lnTo>
                  <a:pt x="2855527" y="1551758"/>
                </a:lnTo>
                <a:lnTo>
                  <a:pt x="2824644" y="1574748"/>
                </a:lnTo>
                <a:lnTo>
                  <a:pt x="2813063" y="1585761"/>
                </a:lnTo>
                <a:lnTo>
                  <a:pt x="2800097" y="1613240"/>
                </a:lnTo>
                <a:lnTo>
                  <a:pt x="2786834" y="1668842"/>
                </a:lnTo>
                <a:lnTo>
                  <a:pt x="2752487" y="1718457"/>
                </a:lnTo>
                <a:lnTo>
                  <a:pt x="2745657" y="1738504"/>
                </a:lnTo>
                <a:lnTo>
                  <a:pt x="2746548" y="1759997"/>
                </a:lnTo>
                <a:lnTo>
                  <a:pt x="2754863" y="1783895"/>
                </a:lnTo>
                <a:lnTo>
                  <a:pt x="2761891" y="1794000"/>
                </a:lnTo>
                <a:lnTo>
                  <a:pt x="2767928" y="1798812"/>
                </a:lnTo>
                <a:lnTo>
                  <a:pt x="2771789" y="1805067"/>
                </a:lnTo>
                <a:lnTo>
                  <a:pt x="2772085" y="1819823"/>
                </a:lnTo>
                <a:lnTo>
                  <a:pt x="2767038" y="1836342"/>
                </a:lnTo>
                <a:lnTo>
                  <a:pt x="2750112" y="1862487"/>
                </a:lnTo>
                <a:lnTo>
                  <a:pt x="2746548" y="1878418"/>
                </a:lnTo>
                <a:lnTo>
                  <a:pt x="2744767" y="1907717"/>
                </a:lnTo>
                <a:lnTo>
                  <a:pt x="2729920" y="1982030"/>
                </a:lnTo>
                <a:lnTo>
                  <a:pt x="2700522" y="2060086"/>
                </a:lnTo>
                <a:lnTo>
                  <a:pt x="2663405" y="2243092"/>
                </a:lnTo>
                <a:lnTo>
                  <a:pt x="2641134" y="2287948"/>
                </a:lnTo>
                <a:lnTo>
                  <a:pt x="2590060" y="2581568"/>
                </a:lnTo>
                <a:lnTo>
                  <a:pt x="2568977" y="2702715"/>
                </a:lnTo>
                <a:lnTo>
                  <a:pt x="2558584" y="2725063"/>
                </a:lnTo>
                <a:lnTo>
                  <a:pt x="2525920" y="2768260"/>
                </a:lnTo>
                <a:lnTo>
                  <a:pt x="2513746" y="2790663"/>
                </a:lnTo>
                <a:lnTo>
                  <a:pt x="2504145" y="2818891"/>
                </a:lnTo>
                <a:lnTo>
                  <a:pt x="2497414" y="2871232"/>
                </a:lnTo>
                <a:lnTo>
                  <a:pt x="2498008" y="2917851"/>
                </a:lnTo>
                <a:lnTo>
                  <a:pt x="2493455" y="2962226"/>
                </a:lnTo>
                <a:lnTo>
                  <a:pt x="2470986" y="3007991"/>
                </a:lnTo>
                <a:lnTo>
                  <a:pt x="2461386" y="3017774"/>
                </a:lnTo>
                <a:lnTo>
                  <a:pt x="2439213" y="3033813"/>
                </a:lnTo>
                <a:lnTo>
                  <a:pt x="2429415" y="3043918"/>
                </a:lnTo>
                <a:lnTo>
                  <a:pt x="2424564" y="3054343"/>
                </a:lnTo>
                <a:lnTo>
                  <a:pt x="2416843" y="3081022"/>
                </a:lnTo>
                <a:lnTo>
                  <a:pt x="2394672" y="3119836"/>
                </a:lnTo>
                <a:lnTo>
                  <a:pt x="2381013" y="3179928"/>
                </a:lnTo>
                <a:lnTo>
                  <a:pt x="2371213" y="3207034"/>
                </a:lnTo>
                <a:lnTo>
                  <a:pt x="2323703" y="3275200"/>
                </a:lnTo>
                <a:lnTo>
                  <a:pt x="2317764" y="3287710"/>
                </a:lnTo>
                <a:lnTo>
                  <a:pt x="2253525" y="3341922"/>
                </a:lnTo>
                <a:lnTo>
                  <a:pt x="2238283" y="3359458"/>
                </a:lnTo>
                <a:lnTo>
                  <a:pt x="2236105" y="3371594"/>
                </a:lnTo>
                <a:lnTo>
                  <a:pt x="2239075" y="3400464"/>
                </a:lnTo>
                <a:lnTo>
                  <a:pt x="2238283" y="3413349"/>
                </a:lnTo>
                <a:lnTo>
                  <a:pt x="2232541" y="3428051"/>
                </a:lnTo>
                <a:lnTo>
                  <a:pt x="2222643" y="3444250"/>
                </a:lnTo>
                <a:lnTo>
                  <a:pt x="2200670" y="3472052"/>
                </a:lnTo>
                <a:lnTo>
                  <a:pt x="2178894" y="3492688"/>
                </a:lnTo>
                <a:lnTo>
                  <a:pt x="2104460" y="3542195"/>
                </a:lnTo>
                <a:lnTo>
                  <a:pt x="2054376" y="3596942"/>
                </a:lnTo>
                <a:lnTo>
                  <a:pt x="2042201" y="3603358"/>
                </a:lnTo>
                <a:lnTo>
                  <a:pt x="2032403" y="3616028"/>
                </a:lnTo>
                <a:lnTo>
                  <a:pt x="2008252" y="3677939"/>
                </a:lnTo>
                <a:lnTo>
                  <a:pt x="1996176" y="3701195"/>
                </a:lnTo>
                <a:lnTo>
                  <a:pt x="1958960" y="3747548"/>
                </a:lnTo>
                <a:lnTo>
                  <a:pt x="1943914" y="3775135"/>
                </a:lnTo>
                <a:lnTo>
                  <a:pt x="1935203" y="3831859"/>
                </a:lnTo>
                <a:lnTo>
                  <a:pt x="1913032" y="3909221"/>
                </a:lnTo>
                <a:lnTo>
                  <a:pt x="1868887" y="3986475"/>
                </a:lnTo>
                <a:lnTo>
                  <a:pt x="1862552" y="4012779"/>
                </a:lnTo>
                <a:lnTo>
                  <a:pt x="1854832" y="4087253"/>
                </a:lnTo>
                <a:lnTo>
                  <a:pt x="1856019" y="4154991"/>
                </a:lnTo>
                <a:lnTo>
                  <a:pt x="1859978" y="4393972"/>
                </a:lnTo>
                <a:lnTo>
                  <a:pt x="1852753" y="4427921"/>
                </a:lnTo>
                <a:lnTo>
                  <a:pt x="1840974" y="4455562"/>
                </a:lnTo>
                <a:lnTo>
                  <a:pt x="1825435" y="4467003"/>
                </a:lnTo>
                <a:lnTo>
                  <a:pt x="1807024" y="4484058"/>
                </a:lnTo>
                <a:lnTo>
                  <a:pt x="1807617" y="4522872"/>
                </a:lnTo>
                <a:lnTo>
                  <a:pt x="1814150" y="4565216"/>
                </a:lnTo>
                <a:lnTo>
                  <a:pt x="1812666" y="4592642"/>
                </a:lnTo>
                <a:lnTo>
                  <a:pt x="1791682" y="4561098"/>
                </a:lnTo>
                <a:lnTo>
                  <a:pt x="1760404" y="4537254"/>
                </a:lnTo>
                <a:lnTo>
                  <a:pt x="1723979" y="4520787"/>
                </a:lnTo>
                <a:lnTo>
                  <a:pt x="1687356" y="4511805"/>
                </a:lnTo>
                <a:lnTo>
                  <a:pt x="1685872" y="4542440"/>
                </a:lnTo>
                <a:lnTo>
                  <a:pt x="1675182" y="4553400"/>
                </a:lnTo>
                <a:lnTo>
                  <a:pt x="1659444" y="4549443"/>
                </a:lnTo>
                <a:lnTo>
                  <a:pt x="1642419" y="4535061"/>
                </a:lnTo>
                <a:lnTo>
                  <a:pt x="1641429" y="4524208"/>
                </a:lnTo>
                <a:lnTo>
                  <a:pt x="1647269" y="4491756"/>
                </a:lnTo>
                <a:lnTo>
                  <a:pt x="1621732" y="4449093"/>
                </a:lnTo>
                <a:lnTo>
                  <a:pt x="1619653" y="4437706"/>
                </a:lnTo>
                <a:lnTo>
                  <a:pt x="1619950" y="4428403"/>
                </a:lnTo>
                <a:lnTo>
                  <a:pt x="1621732" y="4413166"/>
                </a:lnTo>
                <a:lnTo>
                  <a:pt x="1621732" y="4363445"/>
                </a:lnTo>
                <a:lnTo>
                  <a:pt x="1624404" y="4348850"/>
                </a:lnTo>
                <a:lnTo>
                  <a:pt x="1635688" y="4332489"/>
                </a:lnTo>
                <a:lnTo>
                  <a:pt x="1638262" y="4318535"/>
                </a:lnTo>
                <a:lnTo>
                  <a:pt x="1546210" y="4079608"/>
                </a:lnTo>
                <a:lnTo>
                  <a:pt x="1538588" y="4066563"/>
                </a:lnTo>
                <a:lnTo>
                  <a:pt x="1512952" y="4034806"/>
                </a:lnTo>
                <a:lnTo>
                  <a:pt x="1492760" y="3989255"/>
                </a:lnTo>
                <a:lnTo>
                  <a:pt x="1483456" y="3976103"/>
                </a:lnTo>
                <a:lnTo>
                  <a:pt x="1445844" y="3946431"/>
                </a:lnTo>
                <a:lnTo>
                  <a:pt x="1430799" y="3937769"/>
                </a:lnTo>
                <a:lnTo>
                  <a:pt x="1425750" y="3936113"/>
                </a:lnTo>
                <a:lnTo>
                  <a:pt x="1420702" y="3932585"/>
                </a:lnTo>
                <a:lnTo>
                  <a:pt x="1416248" y="3915369"/>
                </a:lnTo>
                <a:lnTo>
                  <a:pt x="1413279" y="3909221"/>
                </a:lnTo>
                <a:lnTo>
                  <a:pt x="1392988" y="3896069"/>
                </a:lnTo>
                <a:lnTo>
                  <a:pt x="1346665" y="3873934"/>
                </a:lnTo>
                <a:lnTo>
                  <a:pt x="1325681" y="3859500"/>
                </a:lnTo>
                <a:lnTo>
                  <a:pt x="1303509" y="3840093"/>
                </a:lnTo>
                <a:lnTo>
                  <a:pt x="1293215" y="3833570"/>
                </a:lnTo>
                <a:lnTo>
                  <a:pt x="1279655" y="3827690"/>
                </a:lnTo>
                <a:lnTo>
                  <a:pt x="1272232" y="3828117"/>
                </a:lnTo>
                <a:lnTo>
                  <a:pt x="1263719" y="3831272"/>
                </a:lnTo>
                <a:lnTo>
                  <a:pt x="1253821" y="3831538"/>
                </a:lnTo>
                <a:lnTo>
                  <a:pt x="1193443" y="3784437"/>
                </a:lnTo>
                <a:lnTo>
                  <a:pt x="1137420" y="3705152"/>
                </a:lnTo>
                <a:lnTo>
                  <a:pt x="1196411" y="3776258"/>
                </a:lnTo>
                <a:lnTo>
                  <a:pt x="1189484" y="3742416"/>
                </a:lnTo>
                <a:lnTo>
                  <a:pt x="1179684" y="3723863"/>
                </a:lnTo>
                <a:lnTo>
                  <a:pt x="1171865" y="3709108"/>
                </a:lnTo>
                <a:lnTo>
                  <a:pt x="1147318" y="3681200"/>
                </a:lnTo>
                <a:lnTo>
                  <a:pt x="1105547" y="3642707"/>
                </a:lnTo>
                <a:lnTo>
                  <a:pt x="1089513" y="3623085"/>
                </a:lnTo>
                <a:lnTo>
                  <a:pt x="1081990" y="3601326"/>
                </a:lnTo>
                <a:lnTo>
                  <a:pt x="1091987" y="3580101"/>
                </a:lnTo>
                <a:lnTo>
                  <a:pt x="1097233" y="3561174"/>
                </a:lnTo>
                <a:lnTo>
                  <a:pt x="1090206" y="3534551"/>
                </a:lnTo>
                <a:lnTo>
                  <a:pt x="1077833" y="3508300"/>
                </a:lnTo>
                <a:lnTo>
                  <a:pt x="1055167" y="3473013"/>
                </a:lnTo>
                <a:lnTo>
                  <a:pt x="1033787" y="3426072"/>
                </a:lnTo>
                <a:lnTo>
                  <a:pt x="1029036" y="3405222"/>
                </a:lnTo>
                <a:lnTo>
                  <a:pt x="1029530" y="3391749"/>
                </a:lnTo>
                <a:lnTo>
                  <a:pt x="1036459" y="3375123"/>
                </a:lnTo>
                <a:lnTo>
                  <a:pt x="1038043" y="3364056"/>
                </a:lnTo>
                <a:lnTo>
                  <a:pt x="1035469" y="3358175"/>
                </a:lnTo>
                <a:lnTo>
                  <a:pt x="1029530" y="3353790"/>
                </a:lnTo>
                <a:lnTo>
                  <a:pt x="1023394" y="3347803"/>
                </a:lnTo>
                <a:lnTo>
                  <a:pt x="1020722" y="3337110"/>
                </a:lnTo>
                <a:lnTo>
                  <a:pt x="1007655" y="3314549"/>
                </a:lnTo>
                <a:lnTo>
                  <a:pt x="1004093" y="3305673"/>
                </a:lnTo>
                <a:lnTo>
                  <a:pt x="994293" y="3242908"/>
                </a:lnTo>
                <a:lnTo>
                  <a:pt x="989839" y="3214038"/>
                </a:lnTo>
                <a:lnTo>
                  <a:pt x="981426" y="3197357"/>
                </a:lnTo>
                <a:lnTo>
                  <a:pt x="963411" y="3179287"/>
                </a:lnTo>
                <a:lnTo>
                  <a:pt x="985385" y="3163729"/>
                </a:lnTo>
                <a:lnTo>
                  <a:pt x="997659" y="3135821"/>
                </a:lnTo>
                <a:lnTo>
                  <a:pt x="992710" y="3111710"/>
                </a:lnTo>
                <a:lnTo>
                  <a:pt x="963411" y="3107539"/>
                </a:lnTo>
                <a:lnTo>
                  <a:pt x="957770" y="3116093"/>
                </a:lnTo>
                <a:lnTo>
                  <a:pt x="952919" y="3131651"/>
                </a:lnTo>
                <a:lnTo>
                  <a:pt x="944705" y="3144000"/>
                </a:lnTo>
                <a:lnTo>
                  <a:pt x="929363" y="3143359"/>
                </a:lnTo>
                <a:lnTo>
                  <a:pt x="923324" y="3133095"/>
                </a:lnTo>
                <a:lnTo>
                  <a:pt x="925601" y="3100857"/>
                </a:lnTo>
                <a:lnTo>
                  <a:pt x="921840" y="3089575"/>
                </a:lnTo>
                <a:lnTo>
                  <a:pt x="903034" y="3081449"/>
                </a:lnTo>
                <a:lnTo>
                  <a:pt x="892443" y="3090912"/>
                </a:lnTo>
                <a:lnTo>
                  <a:pt x="883831" y="3104224"/>
                </a:lnTo>
                <a:lnTo>
                  <a:pt x="871161" y="3107539"/>
                </a:lnTo>
                <a:lnTo>
                  <a:pt x="857700" y="3095991"/>
                </a:lnTo>
                <a:lnTo>
                  <a:pt x="854334" y="3080059"/>
                </a:lnTo>
                <a:lnTo>
                  <a:pt x="857403" y="3064340"/>
                </a:lnTo>
                <a:lnTo>
                  <a:pt x="862847" y="3053702"/>
                </a:lnTo>
                <a:lnTo>
                  <a:pt x="876407" y="3046697"/>
                </a:lnTo>
                <a:lnTo>
                  <a:pt x="893630" y="3044399"/>
                </a:lnTo>
                <a:lnTo>
                  <a:pt x="907883" y="3039854"/>
                </a:lnTo>
                <a:lnTo>
                  <a:pt x="912734" y="3025954"/>
                </a:lnTo>
                <a:lnTo>
                  <a:pt x="906101" y="3018737"/>
                </a:lnTo>
                <a:lnTo>
                  <a:pt x="862847" y="3007991"/>
                </a:lnTo>
                <a:lnTo>
                  <a:pt x="862847" y="2999009"/>
                </a:lnTo>
                <a:lnTo>
                  <a:pt x="899074" y="2998688"/>
                </a:lnTo>
                <a:lnTo>
                  <a:pt x="895511" y="2986605"/>
                </a:lnTo>
                <a:lnTo>
                  <a:pt x="875814" y="2969711"/>
                </a:lnTo>
                <a:lnTo>
                  <a:pt x="862847" y="2954954"/>
                </a:lnTo>
                <a:lnTo>
                  <a:pt x="866014" y="2936564"/>
                </a:lnTo>
                <a:lnTo>
                  <a:pt x="877596" y="2930041"/>
                </a:lnTo>
                <a:lnTo>
                  <a:pt x="890166" y="2925871"/>
                </a:lnTo>
                <a:lnTo>
                  <a:pt x="896303" y="2914215"/>
                </a:lnTo>
                <a:lnTo>
                  <a:pt x="892541" y="2896199"/>
                </a:lnTo>
                <a:lnTo>
                  <a:pt x="886207" y="2881442"/>
                </a:lnTo>
                <a:lnTo>
                  <a:pt x="890506" y="2867889"/>
                </a:lnTo>
                <a:lnTo>
                  <a:pt x="896934" y="2850814"/>
                </a:lnTo>
                <a:lnTo>
                  <a:pt x="907460" y="2838722"/>
                </a:lnTo>
                <a:lnTo>
                  <a:pt x="905211" y="2828193"/>
                </a:lnTo>
                <a:lnTo>
                  <a:pt x="907388" y="2817875"/>
                </a:lnTo>
                <a:lnTo>
                  <a:pt x="923027" y="2776708"/>
                </a:lnTo>
                <a:lnTo>
                  <a:pt x="930351" y="2768795"/>
                </a:lnTo>
                <a:lnTo>
                  <a:pt x="942230" y="2765802"/>
                </a:lnTo>
                <a:lnTo>
                  <a:pt x="924969" y="2754358"/>
                </a:lnTo>
                <a:lnTo>
                  <a:pt x="932307" y="2735703"/>
                </a:lnTo>
                <a:lnTo>
                  <a:pt x="950129" y="2734503"/>
                </a:lnTo>
                <a:lnTo>
                  <a:pt x="965193" y="2727843"/>
                </a:lnTo>
                <a:lnTo>
                  <a:pt x="971725" y="2729981"/>
                </a:lnTo>
                <a:lnTo>
                  <a:pt x="967866" y="2715440"/>
                </a:lnTo>
                <a:lnTo>
                  <a:pt x="957623" y="2722778"/>
                </a:lnTo>
                <a:lnTo>
                  <a:pt x="949040" y="2720674"/>
                </a:lnTo>
                <a:lnTo>
                  <a:pt x="937677" y="2720144"/>
                </a:lnTo>
                <a:lnTo>
                  <a:pt x="937479" y="2705014"/>
                </a:lnTo>
                <a:lnTo>
                  <a:pt x="948875" y="2679122"/>
                </a:lnTo>
                <a:lnTo>
                  <a:pt x="965921" y="2677947"/>
                </a:lnTo>
                <a:lnTo>
                  <a:pt x="990749" y="2678135"/>
                </a:lnTo>
                <a:lnTo>
                  <a:pt x="973804" y="2630272"/>
                </a:lnTo>
                <a:lnTo>
                  <a:pt x="954503" y="2593329"/>
                </a:lnTo>
                <a:lnTo>
                  <a:pt x="963411" y="2576649"/>
                </a:lnTo>
                <a:lnTo>
                  <a:pt x="963411" y="2567667"/>
                </a:lnTo>
                <a:lnTo>
                  <a:pt x="949356" y="2560824"/>
                </a:lnTo>
                <a:lnTo>
                  <a:pt x="951237" y="2552964"/>
                </a:lnTo>
                <a:lnTo>
                  <a:pt x="959254" y="2543395"/>
                </a:lnTo>
                <a:lnTo>
                  <a:pt x="963411" y="2531793"/>
                </a:lnTo>
                <a:lnTo>
                  <a:pt x="982195" y="2507635"/>
                </a:lnTo>
                <a:lnTo>
                  <a:pt x="942648" y="2510086"/>
                </a:lnTo>
                <a:lnTo>
                  <a:pt x="941715" y="2470130"/>
                </a:lnTo>
                <a:lnTo>
                  <a:pt x="962911" y="2446576"/>
                </a:lnTo>
                <a:lnTo>
                  <a:pt x="961913" y="2371268"/>
                </a:lnTo>
                <a:lnTo>
                  <a:pt x="965246" y="2315068"/>
                </a:lnTo>
                <a:lnTo>
                  <a:pt x="978164" y="2270164"/>
                </a:lnTo>
                <a:lnTo>
                  <a:pt x="998324" y="2235095"/>
                </a:lnTo>
                <a:lnTo>
                  <a:pt x="1004093" y="2189200"/>
                </a:lnTo>
                <a:lnTo>
                  <a:pt x="1014881" y="2149050"/>
                </a:lnTo>
                <a:lnTo>
                  <a:pt x="1020722" y="2135363"/>
                </a:lnTo>
                <a:lnTo>
                  <a:pt x="1049228" y="2098099"/>
                </a:lnTo>
                <a:lnTo>
                  <a:pt x="1053978" y="2085642"/>
                </a:lnTo>
                <a:lnTo>
                  <a:pt x="1057542" y="2078691"/>
                </a:lnTo>
                <a:lnTo>
                  <a:pt x="1083376" y="2059124"/>
                </a:lnTo>
                <a:lnTo>
                  <a:pt x="1090700" y="2045223"/>
                </a:lnTo>
                <a:lnTo>
                  <a:pt x="1098223" y="2012825"/>
                </a:lnTo>
                <a:lnTo>
                  <a:pt x="1103767" y="1999245"/>
                </a:lnTo>
                <a:lnTo>
                  <a:pt x="1136528" y="1968237"/>
                </a:lnTo>
                <a:lnTo>
                  <a:pt x="1146031" y="1955191"/>
                </a:lnTo>
                <a:lnTo>
                  <a:pt x="1158503" y="1919798"/>
                </a:lnTo>
                <a:lnTo>
                  <a:pt x="1177507" y="1884407"/>
                </a:lnTo>
                <a:lnTo>
                  <a:pt x="1204232" y="1810841"/>
                </a:lnTo>
                <a:lnTo>
                  <a:pt x="1216703" y="1789455"/>
                </a:lnTo>
                <a:lnTo>
                  <a:pt x="1230659" y="1775716"/>
                </a:lnTo>
                <a:lnTo>
                  <a:pt x="1242141" y="1768070"/>
                </a:lnTo>
                <a:lnTo>
                  <a:pt x="1252237" y="1763259"/>
                </a:lnTo>
                <a:lnTo>
                  <a:pt x="1259463" y="1756629"/>
                </a:lnTo>
                <a:lnTo>
                  <a:pt x="1262334" y="1743156"/>
                </a:lnTo>
                <a:lnTo>
                  <a:pt x="1267778" y="1730538"/>
                </a:lnTo>
                <a:lnTo>
                  <a:pt x="1291533" y="1712147"/>
                </a:lnTo>
                <a:lnTo>
                  <a:pt x="1296977" y="1698247"/>
                </a:lnTo>
                <a:lnTo>
                  <a:pt x="1299747" y="1652215"/>
                </a:lnTo>
                <a:lnTo>
                  <a:pt x="1303905" y="1639544"/>
                </a:lnTo>
                <a:lnTo>
                  <a:pt x="1316376" y="1627836"/>
                </a:lnTo>
                <a:lnTo>
                  <a:pt x="1368837" y="1567369"/>
                </a:lnTo>
                <a:lnTo>
                  <a:pt x="1371707" y="1564001"/>
                </a:lnTo>
                <a:lnTo>
                  <a:pt x="1375171" y="1548978"/>
                </a:lnTo>
                <a:lnTo>
                  <a:pt x="1390415" y="1536414"/>
                </a:lnTo>
                <a:lnTo>
                  <a:pt x="1400708" y="1507223"/>
                </a:lnTo>
                <a:lnTo>
                  <a:pt x="1413279" y="1451140"/>
                </a:lnTo>
                <a:lnTo>
                  <a:pt x="1456335" y="1377574"/>
                </a:lnTo>
                <a:lnTo>
                  <a:pt x="1469401" y="1332451"/>
                </a:lnTo>
                <a:lnTo>
                  <a:pt x="1484841" y="1307431"/>
                </a:lnTo>
                <a:lnTo>
                  <a:pt x="1546309" y="1240334"/>
                </a:lnTo>
                <a:lnTo>
                  <a:pt x="1579863" y="1203712"/>
                </a:lnTo>
                <a:lnTo>
                  <a:pt x="1588474" y="1185321"/>
                </a:lnTo>
                <a:lnTo>
                  <a:pt x="1592533" y="1155328"/>
                </a:lnTo>
                <a:lnTo>
                  <a:pt x="1602727" y="1129933"/>
                </a:lnTo>
                <a:lnTo>
                  <a:pt x="1630046" y="1082511"/>
                </a:lnTo>
                <a:lnTo>
                  <a:pt x="1637470" y="1054121"/>
                </a:lnTo>
                <a:lnTo>
                  <a:pt x="1644596" y="1041932"/>
                </a:lnTo>
                <a:lnTo>
                  <a:pt x="1675874" y="1032844"/>
                </a:lnTo>
                <a:lnTo>
                  <a:pt x="1684684" y="1023219"/>
                </a:lnTo>
                <a:lnTo>
                  <a:pt x="1689929" y="1011244"/>
                </a:lnTo>
                <a:lnTo>
                  <a:pt x="1696265" y="1000123"/>
                </a:lnTo>
                <a:lnTo>
                  <a:pt x="1715665" y="980236"/>
                </a:lnTo>
                <a:lnTo>
                  <a:pt x="1736946" y="964784"/>
                </a:lnTo>
                <a:lnTo>
                  <a:pt x="1762779" y="958102"/>
                </a:lnTo>
                <a:lnTo>
                  <a:pt x="1796037" y="964303"/>
                </a:lnTo>
                <a:lnTo>
                  <a:pt x="1791583" y="939389"/>
                </a:lnTo>
                <a:lnTo>
                  <a:pt x="1804153" y="922602"/>
                </a:lnTo>
                <a:lnTo>
                  <a:pt x="1821376" y="905494"/>
                </a:lnTo>
                <a:lnTo>
                  <a:pt x="1829889" y="879457"/>
                </a:lnTo>
                <a:lnTo>
                  <a:pt x="1833749" y="871117"/>
                </a:lnTo>
                <a:lnTo>
                  <a:pt x="1850378" y="862936"/>
                </a:lnTo>
                <a:lnTo>
                  <a:pt x="1857207" y="838398"/>
                </a:lnTo>
                <a:lnTo>
                  <a:pt x="1882942" y="786805"/>
                </a:lnTo>
                <a:lnTo>
                  <a:pt x="1893038" y="773279"/>
                </a:lnTo>
                <a:lnTo>
                  <a:pt x="1896403" y="766168"/>
                </a:lnTo>
                <a:lnTo>
                  <a:pt x="1896206" y="758470"/>
                </a:lnTo>
                <a:lnTo>
                  <a:pt x="1893137" y="750129"/>
                </a:lnTo>
                <a:lnTo>
                  <a:pt x="1888089" y="739971"/>
                </a:lnTo>
                <a:lnTo>
                  <a:pt x="1895018" y="726498"/>
                </a:lnTo>
                <a:lnTo>
                  <a:pt x="1903035" y="718159"/>
                </a:lnTo>
                <a:lnTo>
                  <a:pt x="1903332" y="717784"/>
                </a:lnTo>
                <a:lnTo>
                  <a:pt x="1910261" y="707679"/>
                </a:lnTo>
                <a:lnTo>
                  <a:pt x="1913032" y="690250"/>
                </a:lnTo>
                <a:lnTo>
                  <a:pt x="1916892" y="677045"/>
                </a:lnTo>
                <a:lnTo>
                  <a:pt x="1926494" y="664053"/>
                </a:lnTo>
                <a:lnTo>
                  <a:pt x="1938767" y="654270"/>
                </a:lnTo>
                <a:lnTo>
                  <a:pt x="1950447" y="650367"/>
                </a:lnTo>
                <a:lnTo>
                  <a:pt x="1949457" y="644807"/>
                </a:lnTo>
                <a:lnTo>
                  <a:pt x="1952526" y="631494"/>
                </a:lnTo>
                <a:lnTo>
                  <a:pt x="1962919" y="603854"/>
                </a:lnTo>
                <a:lnTo>
                  <a:pt x="1972420" y="588938"/>
                </a:lnTo>
                <a:lnTo>
                  <a:pt x="2013596" y="524675"/>
                </a:lnTo>
                <a:lnTo>
                  <a:pt x="2045765" y="487144"/>
                </a:lnTo>
                <a:lnTo>
                  <a:pt x="2079023" y="459557"/>
                </a:lnTo>
                <a:lnTo>
                  <a:pt x="2164245" y="432130"/>
                </a:lnTo>
                <a:lnTo>
                  <a:pt x="2184141" y="419940"/>
                </a:lnTo>
                <a:lnTo>
                  <a:pt x="2201263" y="405185"/>
                </a:lnTo>
                <a:lnTo>
                  <a:pt x="2222050" y="394118"/>
                </a:lnTo>
                <a:lnTo>
                  <a:pt x="2263424" y="379523"/>
                </a:lnTo>
                <a:lnTo>
                  <a:pt x="2356466" y="363055"/>
                </a:lnTo>
                <a:lnTo>
                  <a:pt x="2408529" y="353859"/>
                </a:lnTo>
                <a:lnTo>
                  <a:pt x="2430503" y="345412"/>
                </a:lnTo>
                <a:lnTo>
                  <a:pt x="2459009" y="322210"/>
                </a:lnTo>
                <a:lnTo>
                  <a:pt x="2467522" y="318039"/>
                </a:lnTo>
                <a:lnTo>
                  <a:pt x="2478013" y="316221"/>
                </a:lnTo>
                <a:lnTo>
                  <a:pt x="2492069" y="316008"/>
                </a:lnTo>
                <a:lnTo>
                  <a:pt x="2508302" y="321300"/>
                </a:lnTo>
                <a:lnTo>
                  <a:pt x="2517012" y="333223"/>
                </a:lnTo>
                <a:lnTo>
                  <a:pt x="2522654" y="345680"/>
                </a:lnTo>
                <a:lnTo>
                  <a:pt x="2529880" y="352683"/>
                </a:lnTo>
                <a:lnTo>
                  <a:pt x="2545914" y="346321"/>
                </a:lnTo>
                <a:lnTo>
                  <a:pt x="2529187" y="320605"/>
                </a:lnTo>
                <a:lnTo>
                  <a:pt x="2502363" y="294034"/>
                </a:lnTo>
                <a:lnTo>
                  <a:pt x="2488209" y="285373"/>
                </a:lnTo>
                <a:lnTo>
                  <a:pt x="2492267" y="273130"/>
                </a:lnTo>
                <a:lnTo>
                  <a:pt x="2500680" y="266287"/>
                </a:lnTo>
                <a:lnTo>
                  <a:pt x="2509489" y="262223"/>
                </a:lnTo>
                <a:lnTo>
                  <a:pt x="2513151" y="258054"/>
                </a:lnTo>
                <a:lnTo>
                  <a:pt x="2522753" y="234744"/>
                </a:lnTo>
                <a:lnTo>
                  <a:pt x="2537501" y="208333"/>
                </a:lnTo>
                <a:lnTo>
                  <a:pt x="2567889" y="181441"/>
                </a:lnTo>
                <a:lnTo>
                  <a:pt x="2612330" y="159307"/>
                </a:lnTo>
                <a:lnTo>
                  <a:pt x="2663305" y="147919"/>
                </a:lnTo>
                <a:lnTo>
                  <a:pt x="2713291" y="153694"/>
                </a:lnTo>
                <a:lnTo>
                  <a:pt x="2734077" y="168930"/>
                </a:lnTo>
                <a:lnTo>
                  <a:pt x="2780400" y="232819"/>
                </a:lnTo>
                <a:lnTo>
                  <a:pt x="2797029" y="266607"/>
                </a:lnTo>
                <a:lnTo>
                  <a:pt x="2802473" y="264362"/>
                </a:lnTo>
                <a:lnTo>
                  <a:pt x="2814944" y="260994"/>
                </a:lnTo>
                <a:lnTo>
                  <a:pt x="2829197" y="259390"/>
                </a:lnTo>
                <a:lnTo>
                  <a:pt x="2839293" y="262117"/>
                </a:lnTo>
                <a:lnTo>
                  <a:pt x="2838699" y="266127"/>
                </a:lnTo>
                <a:lnTo>
                  <a:pt x="2833849" y="271954"/>
                </a:lnTo>
                <a:lnTo>
                  <a:pt x="2829197" y="279974"/>
                </a:lnTo>
                <a:lnTo>
                  <a:pt x="2829593" y="289864"/>
                </a:lnTo>
                <a:lnTo>
                  <a:pt x="2834542" y="295585"/>
                </a:lnTo>
                <a:lnTo>
                  <a:pt x="2851666" y="307347"/>
                </a:lnTo>
                <a:lnTo>
                  <a:pt x="2855229" y="311944"/>
                </a:lnTo>
                <a:lnTo>
                  <a:pt x="2862950" y="319429"/>
                </a:lnTo>
                <a:lnTo>
                  <a:pt x="2880766" y="325845"/>
                </a:lnTo>
                <a:lnTo>
                  <a:pt x="3092783" y="376208"/>
                </a:lnTo>
                <a:lnTo>
                  <a:pt x="3107728" y="385510"/>
                </a:lnTo>
                <a:lnTo>
                  <a:pt x="3100206" y="402084"/>
                </a:lnTo>
                <a:lnTo>
                  <a:pt x="3098127" y="415342"/>
                </a:lnTo>
                <a:lnTo>
                  <a:pt x="3101394" y="438867"/>
                </a:lnTo>
                <a:lnTo>
                  <a:pt x="3112677" y="478215"/>
                </a:lnTo>
                <a:lnTo>
                  <a:pt x="3124852" y="496607"/>
                </a:lnTo>
                <a:lnTo>
                  <a:pt x="3134652" y="500990"/>
                </a:lnTo>
                <a:lnTo>
                  <a:pt x="3167018" y="496178"/>
                </a:lnTo>
                <a:lnTo>
                  <a:pt x="3183647" y="497889"/>
                </a:lnTo>
                <a:lnTo>
                  <a:pt x="3203146" y="503023"/>
                </a:lnTo>
                <a:lnTo>
                  <a:pt x="3220369" y="511522"/>
                </a:lnTo>
                <a:lnTo>
                  <a:pt x="3229673" y="523070"/>
                </a:lnTo>
                <a:lnTo>
                  <a:pt x="3134057" y="569424"/>
                </a:lnTo>
                <a:lnTo>
                  <a:pt x="3108520" y="591130"/>
                </a:lnTo>
                <a:close/>
              </a:path>
            </a:pathLst>
          </a:custGeom>
          <a:solidFill xmlns:a="http://schemas.openxmlformats.org/drawingml/2006/main">
            <a:srgbClr val="E4F0EF"/>
          </a:solidFill>
          <a:ln xmlns:a="http://schemas.openxmlformats.org/drawingml/2006/main" w="12383">
            <a:solidFill>
              <a:srgbClr val="B4CECF"/>
            </a:solidFill>
          </a:ln>
        </p:spPr>
      </p:sp>
      <p:sp>
        <p:nvSpPr>
          <p:cNvPr id="5" name="Natural-Earth-Taiwan-outline-1">
            <a:extLst xmlns:a="http://schemas.openxmlformats.org/drawingml/2006/main">
              <a:ext uri="{FF2B5EF4-FFF2-40B4-BE49-F238E27FC236}">
                <a16:creationId xmlns:a16="http://schemas.microsoft.com/office/drawing/2014/main" id="{39779C2B-2275-4804-A9AF-65204ED1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71625"/>
            <a:ext cx="3405569" cy="4664393"/>
          </a:xfrm>
          <a:custGeom xmlns:a="http://schemas.openxmlformats.org/drawingml/2006/main">
            <a:pathLst>
              <a:path w="3405569" h="4664393">
                <a:moveTo>
                  <a:pt x="2692208" y="4408675"/>
                </a:moveTo>
                <a:lnTo>
                  <a:pt x="2713587" y="4424980"/>
                </a:lnTo>
                <a:lnTo>
                  <a:pt x="2723090" y="4436422"/>
                </a:lnTo>
                <a:lnTo>
                  <a:pt x="2721605" y="4449093"/>
                </a:lnTo>
                <a:lnTo>
                  <a:pt x="2696365" y="4457112"/>
                </a:lnTo>
                <a:lnTo>
                  <a:pt x="2662315" y="4443373"/>
                </a:lnTo>
                <a:lnTo>
                  <a:pt x="2631038" y="4421238"/>
                </a:lnTo>
                <a:lnTo>
                  <a:pt x="2612925" y="4404184"/>
                </a:lnTo>
                <a:lnTo>
                  <a:pt x="2618369" y="4391673"/>
                </a:lnTo>
                <a:lnTo>
                  <a:pt x="2618171" y="4379858"/>
                </a:lnTo>
                <a:lnTo>
                  <a:pt x="2613518" y="4369059"/>
                </a:lnTo>
                <a:lnTo>
                  <a:pt x="2605302" y="4359328"/>
                </a:lnTo>
                <a:lnTo>
                  <a:pt x="2695970" y="4359328"/>
                </a:lnTo>
                <a:lnTo>
                  <a:pt x="2695970" y="4367455"/>
                </a:lnTo>
                <a:lnTo>
                  <a:pt x="2693593" y="4372480"/>
                </a:lnTo>
                <a:lnTo>
                  <a:pt x="2689634" y="4383654"/>
                </a:lnTo>
                <a:lnTo>
                  <a:pt x="2688050" y="4396966"/>
                </a:lnTo>
                <a:lnTo>
                  <a:pt x="2692208" y="4408675"/>
                </a:lnTo>
                <a:close/>
              </a:path>
            </a:pathLst>
          </a:custGeom>
          <a:solidFill xmlns:a="http://schemas.openxmlformats.org/drawingml/2006/main">
            <a:srgbClr val="E4F0EF"/>
          </a:solidFill>
          <a:ln xmlns:a="http://schemas.openxmlformats.org/drawingml/2006/main" w="12383">
            <a:solidFill>
              <a:srgbClr val="B4CECF"/>
            </a:solidFill>
          </a:ln>
        </p:spPr>
      </p:sp>
      <p:sp>
        <p:nvSpPr>
          <p:cNvPr id="6" name="Natural-Earth-Taiwan-outline-3">
            <a:extLst xmlns:a="http://schemas.openxmlformats.org/drawingml/2006/main">
              <a:ext uri="{FF2B5EF4-FFF2-40B4-BE49-F238E27FC236}">
                <a16:creationId xmlns:a16="http://schemas.microsoft.com/office/drawing/2014/main" id="{450FACDC-759C-40EC-9EC1-5E2EC3CE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71625"/>
            <a:ext cx="3405569" cy="4664393"/>
          </a:xfrm>
          <a:custGeom xmlns:a="http://schemas.openxmlformats.org/drawingml/2006/main">
            <a:pathLst>
              <a:path w="3405569" h="4664393">
                <a:moveTo>
                  <a:pt x="362401" y="2360497"/>
                </a:moveTo>
                <a:lnTo>
                  <a:pt x="384078" y="2400112"/>
                </a:lnTo>
                <a:lnTo>
                  <a:pt x="390017" y="2418611"/>
                </a:lnTo>
                <a:lnTo>
                  <a:pt x="387344" y="2432298"/>
                </a:lnTo>
                <a:lnTo>
                  <a:pt x="378435" y="2423208"/>
                </a:lnTo>
                <a:lnTo>
                  <a:pt x="366558" y="2415510"/>
                </a:lnTo>
                <a:lnTo>
                  <a:pt x="353493" y="2412944"/>
                </a:lnTo>
                <a:lnTo>
                  <a:pt x="335281" y="2423102"/>
                </a:lnTo>
                <a:lnTo>
                  <a:pt x="322314" y="2424652"/>
                </a:lnTo>
                <a:lnTo>
                  <a:pt x="315880" y="2428182"/>
                </a:lnTo>
                <a:lnTo>
                  <a:pt x="312316" y="2434918"/>
                </a:lnTo>
                <a:lnTo>
                  <a:pt x="307367" y="2453576"/>
                </a:lnTo>
                <a:lnTo>
                  <a:pt x="304200" y="2459136"/>
                </a:lnTo>
                <a:lnTo>
                  <a:pt x="282622" y="2471539"/>
                </a:lnTo>
                <a:lnTo>
                  <a:pt x="260252" y="2474640"/>
                </a:lnTo>
                <a:lnTo>
                  <a:pt x="237884" y="2466087"/>
                </a:lnTo>
                <a:lnTo>
                  <a:pt x="215414" y="2443900"/>
                </a:lnTo>
                <a:lnTo>
                  <a:pt x="221353" y="2432298"/>
                </a:lnTo>
                <a:lnTo>
                  <a:pt x="233727" y="2447053"/>
                </a:lnTo>
                <a:lnTo>
                  <a:pt x="252236" y="2450957"/>
                </a:lnTo>
                <a:lnTo>
                  <a:pt x="272130" y="2445503"/>
                </a:lnTo>
                <a:lnTo>
                  <a:pt x="288463" y="2432298"/>
                </a:lnTo>
                <a:lnTo>
                  <a:pt x="277178" y="2428128"/>
                </a:lnTo>
                <a:lnTo>
                  <a:pt x="268270" y="2422781"/>
                </a:lnTo>
                <a:lnTo>
                  <a:pt x="261044" y="2415404"/>
                </a:lnTo>
                <a:lnTo>
                  <a:pt x="254512" y="2405352"/>
                </a:lnTo>
                <a:lnTo>
                  <a:pt x="251939" y="2409577"/>
                </a:lnTo>
                <a:lnTo>
                  <a:pt x="251939" y="2411019"/>
                </a:lnTo>
                <a:lnTo>
                  <a:pt x="251048" y="2411821"/>
                </a:lnTo>
                <a:lnTo>
                  <a:pt x="246197" y="2414334"/>
                </a:lnTo>
                <a:lnTo>
                  <a:pt x="245108" y="2395943"/>
                </a:lnTo>
                <a:lnTo>
                  <a:pt x="246197" y="2377659"/>
                </a:lnTo>
                <a:lnTo>
                  <a:pt x="254512" y="2377659"/>
                </a:lnTo>
                <a:lnTo>
                  <a:pt x="264213" y="2380117"/>
                </a:lnTo>
                <a:lnTo>
                  <a:pt x="298559" y="2358840"/>
                </a:lnTo>
                <a:lnTo>
                  <a:pt x="320037" y="2351515"/>
                </a:lnTo>
                <a:lnTo>
                  <a:pt x="314296" y="2371778"/>
                </a:lnTo>
                <a:lnTo>
                  <a:pt x="311723" y="2377659"/>
                </a:lnTo>
                <a:lnTo>
                  <a:pt x="330332" y="2372045"/>
                </a:lnTo>
                <a:lnTo>
                  <a:pt x="344584" y="2373595"/>
                </a:lnTo>
                <a:lnTo>
                  <a:pt x="354977" y="2372846"/>
                </a:lnTo>
                <a:lnTo>
                  <a:pt x="362401" y="2360497"/>
                </a:lnTo>
                <a:close/>
              </a:path>
            </a:pathLst>
          </a:custGeom>
          <a:solidFill xmlns:a="http://schemas.openxmlformats.org/drawingml/2006/main">
            <a:srgbClr val="E4F0EF"/>
          </a:solidFill>
          <a:ln xmlns:a="http://schemas.openxmlformats.org/drawingml/2006/main" w="12383">
            <a:solidFill>
              <a:srgbClr val="B4CECF"/>
            </a:solidFill>
          </a:ln>
        </p:spPr>
      </p:sp>
      <p:sp>
        <p:nvSpPr>
          <p:cNvPr id="7" name="Natural-Earth-Taiwan-outline-4">
            <a:extLst xmlns:a="http://schemas.openxmlformats.org/drawingml/2006/main">
              <a:ext uri="{FF2B5EF4-FFF2-40B4-BE49-F238E27FC236}">
                <a16:creationId xmlns:a16="http://schemas.microsoft.com/office/drawing/2014/main" id="{00215D9C-2865-415C-9159-24548C3B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71625"/>
            <a:ext cx="3405569" cy="4664393"/>
          </a:xfrm>
          <a:custGeom xmlns:a="http://schemas.openxmlformats.org/drawingml/2006/main">
            <a:pathLst>
              <a:path w="3405569" h="4664393">
                <a:moveTo>
                  <a:pt x="154541" y="2360497"/>
                </a:moveTo>
                <a:lnTo>
                  <a:pt x="169586" y="2312967"/>
                </a:lnTo>
                <a:lnTo>
                  <a:pt x="184038" y="2298853"/>
                </a:lnTo>
                <a:lnTo>
                  <a:pt x="203537" y="2315641"/>
                </a:lnTo>
                <a:lnTo>
                  <a:pt x="191956" y="2322484"/>
                </a:lnTo>
                <a:lnTo>
                  <a:pt x="183938" y="2339005"/>
                </a:lnTo>
                <a:lnTo>
                  <a:pt x="171170" y="2377659"/>
                </a:lnTo>
                <a:lnTo>
                  <a:pt x="170576" y="2388084"/>
                </a:lnTo>
                <a:lnTo>
                  <a:pt x="173744" y="2396905"/>
                </a:lnTo>
                <a:lnTo>
                  <a:pt x="172358" y="2403107"/>
                </a:lnTo>
                <a:lnTo>
                  <a:pt x="158402" y="2405352"/>
                </a:lnTo>
                <a:lnTo>
                  <a:pt x="148305" y="2405727"/>
                </a:lnTo>
                <a:lnTo>
                  <a:pt x="141179" y="2407009"/>
                </a:lnTo>
                <a:lnTo>
                  <a:pt x="135240" y="2409737"/>
                </a:lnTo>
                <a:lnTo>
                  <a:pt x="129599" y="2414334"/>
                </a:lnTo>
                <a:lnTo>
                  <a:pt x="112375" y="2414334"/>
                </a:lnTo>
                <a:lnTo>
                  <a:pt x="115345" y="2404764"/>
                </a:lnTo>
                <a:lnTo>
                  <a:pt x="120988" y="2399044"/>
                </a:lnTo>
                <a:lnTo>
                  <a:pt x="129599" y="2396370"/>
                </a:lnTo>
                <a:lnTo>
                  <a:pt x="141278" y="2395515"/>
                </a:lnTo>
                <a:lnTo>
                  <a:pt x="151374" y="2391665"/>
                </a:lnTo>
                <a:lnTo>
                  <a:pt x="154244" y="2382363"/>
                </a:lnTo>
                <a:lnTo>
                  <a:pt x="154541" y="2360497"/>
                </a:lnTo>
                <a:close/>
              </a:path>
            </a:pathLst>
          </a:custGeom>
          <a:solidFill xmlns:a="http://schemas.openxmlformats.org/drawingml/2006/main">
            <a:srgbClr val="E4F0EF"/>
          </a:solidFill>
          <a:ln xmlns:a="http://schemas.openxmlformats.org/drawingml/2006/main" w="12383">
            <a:solidFill>
              <a:srgbClr val="B4CECF"/>
            </a:solidFill>
          </a:ln>
        </p:spPr>
      </p:sp>
      <p:sp>
        <p:nvSpPr>
          <p:cNvPr id="8" name="Natural-Earth-Taiwan-outline-5">
            <a:extLst xmlns:a="http://schemas.openxmlformats.org/drawingml/2006/main">
              <a:ext uri="{FF2B5EF4-FFF2-40B4-BE49-F238E27FC236}">
                <a16:creationId xmlns:a16="http://schemas.microsoft.com/office/drawing/2014/main" id="{7FFB04F6-6956-415E-886D-918B9B7D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71625"/>
            <a:ext cx="3405569" cy="4664393"/>
          </a:xfrm>
          <a:custGeom xmlns:a="http://schemas.openxmlformats.org/drawingml/2006/main">
            <a:pathLst>
              <a:path w="3405569" h="4664393">
                <a:moveTo>
                  <a:pt x="270745" y="2328685"/>
                </a:moveTo>
                <a:lnTo>
                  <a:pt x="266786" y="2312861"/>
                </a:lnTo>
                <a:lnTo>
                  <a:pt x="257580" y="2299548"/>
                </a:lnTo>
                <a:lnTo>
                  <a:pt x="237487" y="2279713"/>
                </a:lnTo>
                <a:lnTo>
                  <a:pt x="263222" y="2261002"/>
                </a:lnTo>
                <a:lnTo>
                  <a:pt x="278366" y="2269021"/>
                </a:lnTo>
                <a:lnTo>
                  <a:pt x="293213" y="2281584"/>
                </a:lnTo>
                <a:lnTo>
                  <a:pt x="299449" y="2295057"/>
                </a:lnTo>
                <a:lnTo>
                  <a:pt x="288166" y="2305910"/>
                </a:lnTo>
                <a:lnTo>
                  <a:pt x="292718" y="2321949"/>
                </a:lnTo>
                <a:lnTo>
                  <a:pt x="285987" y="2332535"/>
                </a:lnTo>
                <a:lnTo>
                  <a:pt x="275892" y="2335476"/>
                </a:lnTo>
                <a:lnTo>
                  <a:pt x="270745" y="2328685"/>
                </a:lnTo>
                <a:close/>
              </a:path>
            </a:pathLst>
          </a:custGeom>
          <a:solidFill xmlns:a="http://schemas.openxmlformats.org/drawingml/2006/main">
            <a:srgbClr val="E4F0EF"/>
          </a:solidFill>
          <a:ln xmlns:a="http://schemas.openxmlformats.org/drawingml/2006/main" w="12383">
            <a:solidFill>
              <a:srgbClr val="B4CECF"/>
            </a:solidFill>
          </a:ln>
        </p:spPr>
      </p:sp>
      <p:sp>
        <p:nvSpPr>
          <p:cNvPr id="9" name="Natural-Earth-Taiwan-outline-6">
            <a:extLst xmlns:a="http://schemas.openxmlformats.org/drawingml/2006/main">
              <a:ext uri="{FF2B5EF4-FFF2-40B4-BE49-F238E27FC236}">
                <a16:creationId xmlns:a16="http://schemas.microsoft.com/office/drawing/2014/main" id="{CA82C693-3336-4898-A395-819E5D81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71625"/>
            <a:ext cx="3405569" cy="4664393"/>
          </a:xfrm>
          <a:custGeom xmlns:a="http://schemas.openxmlformats.org/drawingml/2006/main">
            <a:pathLst>
              <a:path w="3405569" h="4664393">
                <a:moveTo>
                  <a:pt x="2567195" y="3601433"/>
                </a:moveTo>
                <a:lnTo>
                  <a:pt x="2560761" y="3581972"/>
                </a:lnTo>
                <a:lnTo>
                  <a:pt x="2563335" y="3579192"/>
                </a:lnTo>
                <a:lnTo>
                  <a:pt x="2609856" y="3575771"/>
                </a:lnTo>
                <a:lnTo>
                  <a:pt x="2615003" y="3578764"/>
                </a:lnTo>
                <a:lnTo>
                  <a:pt x="2618369" y="3587639"/>
                </a:lnTo>
                <a:lnTo>
                  <a:pt x="2614705" y="3605817"/>
                </a:lnTo>
                <a:lnTo>
                  <a:pt x="2610549" y="3613195"/>
                </a:lnTo>
                <a:lnTo>
                  <a:pt x="2608866" y="3620893"/>
                </a:lnTo>
                <a:lnTo>
                  <a:pt x="2610549" y="3628378"/>
                </a:lnTo>
                <a:lnTo>
                  <a:pt x="2610251" y="3633404"/>
                </a:lnTo>
                <a:lnTo>
                  <a:pt x="2606689" y="3632441"/>
                </a:lnTo>
                <a:lnTo>
                  <a:pt x="2598671" y="3632441"/>
                </a:lnTo>
                <a:lnTo>
                  <a:pt x="2594514" y="3631479"/>
                </a:lnTo>
                <a:lnTo>
                  <a:pt x="2592436" y="3628913"/>
                </a:lnTo>
                <a:lnTo>
                  <a:pt x="2580261" y="3624048"/>
                </a:lnTo>
                <a:lnTo>
                  <a:pt x="2567195" y="3601433"/>
                </a:lnTo>
                <a:close/>
              </a:path>
            </a:pathLst>
          </a:custGeom>
          <a:solidFill xmlns:a="http://schemas.openxmlformats.org/drawingml/2006/main">
            <a:srgbClr val="E4F0EF"/>
          </a:solidFill>
          <a:ln xmlns:a="http://schemas.openxmlformats.org/drawingml/2006/main" w="12383">
            <a:solidFill>
              <a:srgbClr val="B4CECF"/>
            </a:solidFill>
          </a:ln>
        </p:spPr>
      </p:sp>
      <p:sp>
        <p:nvSpPr>
          <p:cNvPr id="10" name="Natural-Earth-Taiwan-outline-7">
            <a:extLst xmlns:a="http://schemas.openxmlformats.org/drawingml/2006/main">
              <a:ext uri="{FF2B5EF4-FFF2-40B4-BE49-F238E27FC236}">
                <a16:creationId xmlns:a16="http://schemas.microsoft.com/office/drawing/2014/main" id="{F1355199-2E4E-46DA-9CBB-1B55AD10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71625"/>
            <a:ext cx="3405569" cy="4664393"/>
          </a:xfrm>
          <a:custGeom xmlns:a="http://schemas.openxmlformats.org/drawingml/2006/main">
            <a:pathLst>
              <a:path w="3405569" h="4664393">
                <a:moveTo>
                  <a:pt x="817167" y="2559971"/>
                </a:moveTo>
                <a:lnTo>
                  <a:pt x="881716" y="2495361"/>
                </a:lnTo>
                <a:lnTo>
                  <a:pt x="930755" y="2433483"/>
                </a:lnTo>
                <a:lnTo>
                  <a:pt x="942333" y="2430143"/>
                </a:lnTo>
                <a:lnTo>
                  <a:pt x="900409" y="2497229"/>
                </a:lnTo>
                <a:lnTo>
                  <a:pt x="879914" y="2517702"/>
                </a:lnTo>
                <a:lnTo>
                  <a:pt x="866318" y="2534172"/>
                </a:lnTo>
                <a:lnTo>
                  <a:pt x="848853" y="2551508"/>
                </a:lnTo>
                <a:lnTo>
                  <a:pt x="835088" y="2561068"/>
                </a:lnTo>
                <a:lnTo>
                  <a:pt x="814347" y="2577397"/>
                </a:lnTo>
                <a:lnTo>
                  <a:pt x="799890" y="2585001"/>
                </a:lnTo>
                <a:lnTo>
                  <a:pt x="817167" y="2559971"/>
                </a:lnTo>
                <a:close/>
              </a:path>
            </a:pathLst>
          </a:custGeom>
          <a:solidFill xmlns:a="http://schemas.openxmlformats.org/drawingml/2006/main">
            <a:srgbClr val="E4F0EF"/>
          </a:solidFill>
          <a:ln xmlns:a="http://schemas.openxmlformats.org/drawingml/2006/main" w="12383">
            <a:solidFill>
              <a:srgbClr val="B4CE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10C32-45EC-41CC-917C-F7F0F4A4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573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臺灣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29B92-865B-4995-847B-60CD7B40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724" y="5070587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9050">
            <a:solidFill>
              <a:srgbClr val="F28C2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D0AE9-EAF0-4856-8865-5F6F457B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高雄長庚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92095-008B-49E1-96BD-24578993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合作關係示意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8B7035-AAAE-4697-8BDD-8C93071A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90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A8C8B"/>
            </a:solidFill>
          </a:ln>
        </p:spPr>
      </p:sp>
      <p:cxnSp>
        <p:nvCxnSpPr>
          <p:cNvPr id="73" name=""/>
          <p:cNvCxnSpPr>
            <a:stCxn xmlns:a="http://schemas.openxmlformats.org/drawingml/2006/main" id="12" idx="6"/>
            <a:endCxn xmlns:a="http://schemas.openxmlformats.org/drawingml/2006/main" id="33" idx="2"/>
          </p:cNvCxnSpPr>
          <p:nvPr/>
        </p:nvCxnSpPr>
        <p:spPr>
          <a:xfrm xmlns:a="http://schemas.openxmlformats.org/drawingml/2006/main" rot="5400000">
            <a:off x="2401956" y="2405243"/>
            <a:ext cx="3137012" cy="242227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rgbClr val="77ADAD"/>
            </a:solidFill>
            <a:prstDash val="dash"/>
          </a:ln>
        </p:spPr>
      </p:cxnSp>
      <p:sp>
        <p:nvSpPr>
          <p:cNvPr id="35" name="高雄">
            <a:extLst xmlns:a="http://schemas.openxmlformats.org/drawingml/2006/main">
              <a:ext uri="{FF2B5EF4-FFF2-40B4-BE49-F238E27FC236}">
                <a16:creationId xmlns:a16="http://schemas.microsoft.com/office/drawing/2014/main" id="{3B99BBA1-23E4-4092-9A33-01F6B027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38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高雄</a:t>
            </a:r>
          </a:p>
        </p:txBody>
      </p:sp>
      <p:sp>
        <p:nvSpPr>
          <p:cNvPr id="36" name="甲仙衛生所">
            <a:extLst xmlns:a="http://schemas.openxmlformats.org/drawingml/2006/main">
              <a:ext uri="{FF2B5EF4-FFF2-40B4-BE49-F238E27FC236}">
                <a16:creationId xmlns:a16="http://schemas.microsoft.com/office/drawing/2014/main" id="{42704D7C-CB83-4A5A-AEDC-37B0FE8F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00275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甲仙衛生所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624205-E01D-4410-9CB0-6EBBF3F3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1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A8C8B"/>
            </a:solidFill>
          </a:ln>
        </p:spPr>
      </p:sp>
      <p:cxnSp>
        <p:nvCxnSpPr>
          <p:cNvPr id="77" name=""/>
          <p:cNvCxnSpPr>
            <a:stCxn xmlns:a="http://schemas.openxmlformats.org/drawingml/2006/main" id="12" idx="6"/>
            <a:endCxn xmlns:a="http://schemas.openxmlformats.org/drawingml/2006/main" id="37" idx="2"/>
          </p:cNvCxnSpPr>
          <p:nvPr/>
        </p:nvCxnSpPr>
        <p:spPr>
          <a:xfrm xmlns:a="http://schemas.openxmlformats.org/drawingml/2006/main" rot="5400000">
            <a:off x="2763906" y="2767193"/>
            <a:ext cx="2413112" cy="242227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A6C9C8"/>
            </a:solidFill>
            <a:prstDash val="dash"/>
          </a:ln>
        </p:spPr>
      </p:cxnSp>
      <p:sp>
        <p:nvSpPr>
          <p:cNvPr id="39" name="屏東">
            <a:extLst xmlns:a="http://schemas.openxmlformats.org/drawingml/2006/main">
              <a:ext uri="{FF2B5EF4-FFF2-40B4-BE49-F238E27FC236}">
                <a16:creationId xmlns:a16="http://schemas.microsoft.com/office/drawing/2014/main" id="{D01B00DB-BBB2-4575-831B-6E5316DB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622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屏東</a:t>
            </a:r>
          </a:p>
        </p:txBody>
      </p:sp>
      <p:sp>
        <p:nvSpPr>
          <p:cNvPr id="40" name="牡丹、琉球、三地門、霧臺&#10;獅子、瑪家、來義、春日衛生所&#10;恆春">
            <a:extLst xmlns:a="http://schemas.openxmlformats.org/drawingml/2006/main">
              <a:ext uri="{FF2B5EF4-FFF2-40B4-BE49-F238E27FC236}">
                <a16:creationId xmlns:a16="http://schemas.microsoft.com/office/drawing/2014/main" id="{0069C5E6-2E56-43B0-B642-910080D5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24175"/>
            <a:ext cx="3381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牡丹、琉球、三地門、霧臺</a:t>
            </a:r>
          </a:p>
          <a:p xmlns:a="http://schemas.openxmlformats.org/drawingml/2006/main">
            <a:pPr algn="l">
              <a:def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獅子、瑪家、來義、春日衛生所</a:t>
            </a:r>
          </a:p>
          <a:p xmlns:a="http://schemas.openxmlformats.org/drawingml/2006/main">
            <a:pPr algn="l">
              <a:def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恆春旅遊醫院</a:t>
            </a:r>
          </a:p>
          <a:p xmlns:a="http://schemas.openxmlformats.org/drawingml/2006/main">
            <a:pPr algn="l">
              <a:def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南門、枋寮、恆春基督教</a:t>
            </a:r>
          </a:p>
          <a:p xmlns:a="http://schemas.openxmlformats.org/drawingml/2006/main">
            <a:pPr algn="l">
              <a:def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大新、安泰、屏東基督教醫院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F6088D-CDFF-449B-904B-E352F359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A8C8B"/>
            </a:solidFill>
          </a:ln>
        </p:spPr>
      </p:sp>
      <p:cxnSp>
        <p:nvCxnSpPr>
          <p:cNvPr id="81" name=""/>
          <p:cNvCxnSpPr>
            <a:stCxn xmlns:a="http://schemas.openxmlformats.org/drawingml/2006/main" id="12" idx="6"/>
            <a:endCxn xmlns:a="http://schemas.openxmlformats.org/drawingml/2006/main" id="41" idx="2"/>
          </p:cNvCxnSpPr>
          <p:nvPr/>
        </p:nvCxnSpPr>
        <p:spPr>
          <a:xfrm xmlns:a="http://schemas.openxmlformats.org/drawingml/2006/main" rot="5400000">
            <a:off x="3678306" y="3681593"/>
            <a:ext cx="584312" cy="242227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rgbClr val="77ADAD"/>
            </a:solidFill>
            <a:prstDash val="dash"/>
          </a:ln>
        </p:spPr>
      </p:cxnSp>
      <p:sp>
        <p:nvSpPr>
          <p:cNvPr id="43" name="澎湖">
            <a:extLst xmlns:a="http://schemas.openxmlformats.org/drawingml/2006/main">
              <a:ext uri="{FF2B5EF4-FFF2-40B4-BE49-F238E27FC236}">
                <a16:creationId xmlns:a16="http://schemas.microsoft.com/office/drawing/2014/main" id="{A6EFB8C5-4943-4C01-A5F2-F9546381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910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澎湖</a:t>
            </a:r>
          </a:p>
        </p:txBody>
      </p:sp>
      <p:sp>
        <p:nvSpPr>
          <p:cNvPr id="44" name="澎湖醫院、西嶼、將軍衛生所&#10;三總澎湖分院（澎湖監獄）">
            <a:extLst xmlns:a="http://schemas.openxmlformats.org/drawingml/2006/main">
              <a:ext uri="{FF2B5EF4-FFF2-40B4-BE49-F238E27FC236}">
                <a16:creationId xmlns:a16="http://schemas.microsoft.com/office/drawing/2014/main" id="{7BC29CAB-DB28-4D19-B792-8126ADBD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52975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澎湖醫院、西嶼、將軍衛生所</a:t>
            </a:r>
          </a:p>
          <a:p xmlns:a="http://schemas.openxmlformats.org/drawingml/2006/main">
            <a:pPr algn="l">
              <a:def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三總澎湖分院（澎湖監獄）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E0EDF5-04F3-40A9-AF92-791FFB08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19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A8C8B"/>
            </a:solidFill>
          </a:ln>
        </p:spPr>
      </p:sp>
      <p:cxnSp>
        <p:nvCxnSpPr>
          <p:cNvPr id="85" name=""/>
          <p:cNvCxnSpPr>
            <a:stCxn xmlns:a="http://schemas.openxmlformats.org/drawingml/2006/main" id="12" idx="6"/>
            <a:endCxn xmlns:a="http://schemas.openxmlformats.org/drawingml/2006/main" id="45" idx="2"/>
          </p:cNvCxnSpPr>
          <p:nvPr/>
        </p:nvCxnSpPr>
        <p:spPr>
          <a:xfrm xmlns:a="http://schemas.openxmlformats.org/drawingml/2006/main" rot="16200000" flipH="1">
            <a:off x="3824468" y="4119743"/>
            <a:ext cx="291988" cy="242227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rgbClr val="A6C9C8"/>
            </a:solidFill>
            <a:prstDash val="dash"/>
          </a:ln>
        </p:spPr>
      </p:cxnSp>
      <p:sp>
        <p:nvSpPr>
          <p:cNvPr id="47" name="花蓮／臺東">
            <a:extLst xmlns:a="http://schemas.openxmlformats.org/drawingml/2006/main">
              <a:ext uri="{FF2B5EF4-FFF2-40B4-BE49-F238E27FC236}">
                <a16:creationId xmlns:a16="http://schemas.microsoft.com/office/drawing/2014/main" id="{DD473EDD-DB23-4042-B65C-B1FDFA61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6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花蓮／臺東</a:t>
            </a:r>
          </a:p>
        </p:txBody>
      </p:sp>
      <p:sp>
        <p:nvSpPr>
          <p:cNvPr id="48" name="豐濱原住民分院、玉里醫院&#10;臺東醫院成功分院">
            <a:extLst xmlns:a="http://schemas.openxmlformats.org/drawingml/2006/main">
              <a:ext uri="{FF2B5EF4-FFF2-40B4-BE49-F238E27FC236}">
                <a16:creationId xmlns:a16="http://schemas.microsoft.com/office/drawing/2014/main" id="{106CE634-92A8-421B-90DB-783BBE4C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29275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豐濱原住民分院、玉里醫院</a:t>
            </a:r>
          </a:p>
          <a:p xmlns:a="http://schemas.openxmlformats.org/drawingml/2006/main">
            <a:pPr algn="l">
              <a:def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臺東醫院成功分院</a:t>
            </a:r>
          </a:p>
        </p:txBody>
      </p:sp>
      <p:sp>
        <p:nvSpPr>
          <p:cNvPr id="49" name="從單點會診&#10;走向協作網絡">
            <a:extLst xmlns:a="http://schemas.openxmlformats.org/drawingml/2006/main">
              <a:ext uri="{FF2B5EF4-FFF2-40B4-BE49-F238E27FC236}">
                <a16:creationId xmlns:a16="http://schemas.microsoft.com/office/drawing/2014/main" id="{43A3532F-A723-4AB4-9B68-F4757D10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977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從單點會診</a:t>
            </a:r>
          </a:p>
          <a:p xmlns:a="http://schemas.openxmlformats.org/drawingml/2006/main">
            <a:pPr algn="l">
              <a:def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走向協作網絡</a:t>
            </a:r>
          </a:p>
        </p:txBody>
      </p:sp>
      <p:sp>
        <p:nvSpPr>
          <p:cNvPr id="50" name="合作院所／場域">
            <a:extLst xmlns:a="http://schemas.openxmlformats.org/drawingml/2006/main">
              <a:ext uri="{FF2B5EF4-FFF2-40B4-BE49-F238E27FC236}">
                <a16:creationId xmlns:a16="http://schemas.microsoft.com/office/drawing/2014/main" id="{F3F4F937-2D3B-4E2B-91E7-31C93A70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合作院所／場域</a:t>
            </a:r>
          </a:p>
        </p:txBody>
      </p:sp>
      <p:sp>
        <p:nvSpPr>
          <p:cNvPr id="51" name="23 家">
            <a:extLst xmlns:a="http://schemas.openxmlformats.org/drawingml/2006/main">
              <a:ext uri="{FF2B5EF4-FFF2-40B4-BE49-F238E27FC236}">
                <a16:creationId xmlns:a16="http://schemas.microsoft.com/office/drawing/2014/main" id="{6B1E6E5D-2BF5-4DBF-B2D8-60D27E1B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23 家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FDBFA2-39AD-4280-8E27-4A9CEDCA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62475"/>
            <a:ext cx="251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53" name="5 個主要區域">
            <a:extLst xmlns:a="http://schemas.openxmlformats.org/drawingml/2006/main">
              <a:ext uri="{FF2B5EF4-FFF2-40B4-BE49-F238E27FC236}">
                <a16:creationId xmlns:a16="http://schemas.microsoft.com/office/drawing/2014/main" id="{51C22A4D-78DE-46CA-B04B-34964774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62500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5 個主要區域</a:t>
            </a:r>
          </a:p>
        </p:txBody>
      </p:sp>
      <p:sp>
        <p:nvSpPr>
          <p:cNvPr id="54" name="至少 8 類專科">
            <a:extLst xmlns:a="http://schemas.openxmlformats.org/drawingml/2006/main">
              <a:ext uri="{FF2B5EF4-FFF2-40B4-BE49-F238E27FC236}">
                <a16:creationId xmlns:a16="http://schemas.microsoft.com/office/drawing/2014/main" id="{D00FB0D7-CC7A-4B1F-BA7F-91301B86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534025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至少 8 類專科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A317BE-8409-4502-88F4-328958EB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56" name="23家依Patty核定清冊；連線為合作示意，非實際服務覆蓋範">
            <a:extLst xmlns:a="http://schemas.openxmlformats.org/drawingml/2006/main">
              <a:ext uri="{FF2B5EF4-FFF2-40B4-BE49-F238E27FC236}">
                <a16:creationId xmlns:a16="http://schemas.microsoft.com/office/drawing/2014/main" id="{028C261F-B2EC-4B60-9CF5-225E0C30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23家依Patty核定清冊；連線為合作示意，非實際服務覆蓋範圍</a:t>
            </a:r>
          </a:p>
        </p:txBody>
      </p:sp>
      <p:sp>
        <p:nvSpPr>
          <p:cNvPr id="57" name="06">
            <a:extLst xmlns:a="http://schemas.openxmlformats.org/drawingml/2006/main">
              <a:ext uri="{FF2B5EF4-FFF2-40B4-BE49-F238E27FC236}">
                <a16:creationId xmlns:a16="http://schemas.microsoft.com/office/drawing/2014/main" id="{6525409E-714A-4042-AE7D-3CDE12BE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97179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07">
            <a:extLst xmlns:a="http://schemas.openxmlformats.org/drawingml/2006/main">
              <a:ext uri="{FF2B5EF4-FFF2-40B4-BE49-F238E27FC236}">
                <a16:creationId xmlns:a16="http://schemas.microsoft.com/office/drawing/2014/main" id="{B9C3DCD5-85C1-4497-8F95-F100ADE1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62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2" name="跨團隊協作">
            <a:extLst xmlns:a="http://schemas.openxmlformats.org/drawingml/2006/main">
              <a:ext uri="{FF2B5EF4-FFF2-40B4-BE49-F238E27FC236}">
                <a16:creationId xmlns:a16="http://schemas.microsoft.com/office/drawing/2014/main" id="{2EAB0437-DDD9-47C4-ADA6-A83CA9AE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跨團隊協作</a:t>
            </a:r>
          </a:p>
        </p:txBody>
      </p:sp>
      <p:sp>
        <p:nvSpPr>
          <p:cNvPr id="3" name="專科、在地照護、行政與資訊共同支持遠距服務">
            <a:extLst xmlns:a="http://schemas.openxmlformats.org/drawingml/2006/main">
              <a:ext uri="{FF2B5EF4-FFF2-40B4-BE49-F238E27FC236}">
                <a16:creationId xmlns:a16="http://schemas.microsoft.com/office/drawing/2014/main" id="{CE39B22A-EF49-4466-8E38-288FB96E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專科、在地照護、行政與資訊共同支持遠距服務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FCE91-2392-4B06-99B1-935F7868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5" name="高雄長庚紀念醫院　遠距醫療服務成果">
            <a:extLst xmlns:a="http://schemas.openxmlformats.org/drawingml/2006/main">
              <a:ext uri="{FF2B5EF4-FFF2-40B4-BE49-F238E27FC236}">
                <a16:creationId xmlns:a16="http://schemas.microsoft.com/office/drawing/2014/main" id="{BE01F5FC-F0B1-460B-BF35-36031F71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高雄長庚紀念醫院　遠距醫療服務成果</a:t>
            </a:r>
          </a:p>
        </p:txBody>
      </p:sp>
      <p:sp>
        <p:nvSpPr>
          <p:cNvPr id="6" name="07">
            <a:extLst xmlns:a="http://schemas.openxmlformats.org/drawingml/2006/main">
              <a:ext uri="{FF2B5EF4-FFF2-40B4-BE49-F238E27FC236}">
                <a16:creationId xmlns:a16="http://schemas.microsoft.com/office/drawing/2014/main" id="{7281620A-459C-4CD4-8625-A9746FB7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20380f42d4dfc"/>
          <a:stretch xmlns:a="http://schemas.openxmlformats.org/drawingml/2006/main"/>
        </p:blipFill>
        <p:spPr>
          <a:xfrm xmlns:a="http://schemas.openxmlformats.org/drawingml/2006/main">
            <a:off x="3321844" y="2057400"/>
            <a:ext cx="5586413" cy="3724275"/>
          </a:xfrm>
          <a:prstGeom xmlns:a="http://schemas.openxmlformats.org/drawingml/2006/main" prst="rect">
            <a:avLst/>
          </a:prstGeom>
        </p:spPr>
      </p:pic>
      <p:sp>
        <p:nvSpPr>
          <p:cNvPr id="8" name="醫學中心">
            <a:extLst xmlns:a="http://schemas.openxmlformats.org/drawingml/2006/main">
              <a:ext uri="{FF2B5EF4-FFF2-40B4-BE49-F238E27FC236}">
                <a16:creationId xmlns:a16="http://schemas.microsoft.com/office/drawing/2014/main" id="{CAA1F572-2D54-4855-B7B9-FFD5C457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醫學中心</a:t>
            </a:r>
          </a:p>
        </p:txBody>
      </p:sp>
      <p:sp>
        <p:nvSpPr>
          <p:cNvPr id="9" name="專科醫師&#10;評估與回覆">
            <a:extLst xmlns:a="http://schemas.openxmlformats.org/drawingml/2006/main">
              <a:ext uri="{FF2B5EF4-FFF2-40B4-BE49-F238E27FC236}">
                <a16:creationId xmlns:a16="http://schemas.microsoft.com/office/drawing/2014/main" id="{23E60D32-2FAA-4D7E-AE5A-9878A925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專科醫師</a:t>
            </a:r>
          </a:p>
          <a:p xmlns:a="http://schemas.openxmlformats.org/drawingml/2006/main">
            <a:pPr algn="l">
              <a:def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評估與回覆</a:t>
            </a:r>
          </a:p>
        </p:txBody>
      </p:sp>
      <p:sp>
        <p:nvSpPr>
          <p:cNvPr id="10" name="在地照護">
            <a:extLst xmlns:a="http://schemas.openxmlformats.org/drawingml/2006/main">
              <a:ext uri="{FF2B5EF4-FFF2-40B4-BE49-F238E27FC236}">
                <a16:creationId xmlns:a16="http://schemas.microsoft.com/office/drawing/2014/main" id="{298B02E2-3E3C-4A0E-99DB-7141350D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在地照護</a:t>
            </a:r>
          </a:p>
        </p:txBody>
      </p:sp>
      <p:sp>
        <p:nvSpPr>
          <p:cNvPr id="11" name="合作院所&#10;護理／個管">
            <a:extLst xmlns:a="http://schemas.openxmlformats.org/drawingml/2006/main">
              <a:ext uri="{FF2B5EF4-FFF2-40B4-BE49-F238E27FC236}">
                <a16:creationId xmlns:a16="http://schemas.microsoft.com/office/drawing/2014/main" id="{1BFE95BC-E41C-4744-AD9C-28956B71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194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合作院所</a:t>
            </a:r>
          </a:p>
          <a:p xmlns:a="http://schemas.openxmlformats.org/drawingml/2006/main">
            <a:pPr algn="l">
              <a:def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護理／個管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EEFDE-FEC3-4D44-B73B-49F2F553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14975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13" name="行政／申報">
            <a:extLst xmlns:a="http://schemas.openxmlformats.org/drawingml/2006/main">
              <a:ext uri="{FF2B5EF4-FFF2-40B4-BE49-F238E27FC236}">
                <a16:creationId xmlns:a16="http://schemas.microsoft.com/office/drawing/2014/main" id="{442D6321-38F1-4312-AA85-90A68516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行政／申報</a:t>
            </a:r>
          </a:p>
        </p:txBody>
      </p:sp>
      <p:sp>
        <p:nvSpPr>
          <p:cNvPr id="14" name="資訊／HIS">
            <a:extLst xmlns:a="http://schemas.openxmlformats.org/drawingml/2006/main">
              <a:ext uri="{FF2B5EF4-FFF2-40B4-BE49-F238E27FC236}">
                <a16:creationId xmlns:a16="http://schemas.microsoft.com/office/drawing/2014/main" id="{05C57E98-B9F2-4460-956C-EAAD2C4D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6959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資訊／HIS</a:t>
            </a:r>
          </a:p>
        </p:txBody>
      </p:sp>
      <p:sp>
        <p:nvSpPr>
          <p:cNvPr id="15" name="合作單位與設備端">
            <a:extLst xmlns:a="http://schemas.openxmlformats.org/drawingml/2006/main">
              <a:ext uri="{FF2B5EF4-FFF2-40B4-BE49-F238E27FC236}">
                <a16:creationId xmlns:a16="http://schemas.microsoft.com/office/drawing/2014/main" id="{78BD320F-AC4B-420D-AEA4-E9844E25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6959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合作單位與設備端</a:t>
            </a:r>
          </a:p>
        </p:txBody>
      </p:sp>
    </p:spTree>
    <p:extLst>
      <p:ext uri="{BB962C8B-B14F-4D97-AF65-F5344CB8AC3E}">
        <p14:creationId xmlns:p14="http://schemas.microsoft.com/office/powerpoint/2010/main" val="12408522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08">
            <a:extLst xmlns:a="http://schemas.openxmlformats.org/drawingml/2006/main">
              <a:ext uri="{FF2B5EF4-FFF2-40B4-BE49-F238E27FC236}">
                <a16:creationId xmlns:a16="http://schemas.microsoft.com/office/drawing/2014/main" id="{7489DC82-4D37-4B53-ABE6-D8E2BC42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62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2" name="遠距會診流程">
            <a:extLst xmlns:a="http://schemas.openxmlformats.org/drawingml/2006/main">
              <a:ext uri="{FF2B5EF4-FFF2-40B4-BE49-F238E27FC236}">
                <a16:creationId xmlns:a16="http://schemas.microsoft.com/office/drawing/2014/main" id="{362048BB-ABCA-490C-AACD-40F4E242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遠距會診流程</a:t>
            </a:r>
          </a:p>
        </p:txBody>
      </p:sp>
      <p:sp>
        <p:nvSpPr>
          <p:cNvPr id="3" name="從個案需求到服務量紀錄與品質追蹤">
            <a:extLst xmlns:a="http://schemas.openxmlformats.org/drawingml/2006/main">
              <a:ext uri="{FF2B5EF4-FFF2-40B4-BE49-F238E27FC236}">
                <a16:creationId xmlns:a16="http://schemas.microsoft.com/office/drawing/2014/main" id="{BF93A77E-DA11-4E92-95A6-8D893848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從個案需求到服務量紀錄與品質追蹤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57457-703F-4E6B-8556-1572E9A9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5" name="高雄長庚紀念醫院　遠距醫療服務成果">
            <a:extLst xmlns:a="http://schemas.openxmlformats.org/drawingml/2006/main">
              <a:ext uri="{FF2B5EF4-FFF2-40B4-BE49-F238E27FC236}">
                <a16:creationId xmlns:a16="http://schemas.microsoft.com/office/drawing/2014/main" id="{6CBBADB3-8AEE-48E4-9EDA-F84EE812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高雄長庚紀念醫院　遠距醫療服務成果</a:t>
            </a:r>
          </a:p>
        </p:txBody>
      </p:sp>
      <p:sp>
        <p:nvSpPr>
          <p:cNvPr id="6" name="08">
            <a:extLst xmlns:a="http://schemas.openxmlformats.org/drawingml/2006/main">
              <a:ext uri="{FF2B5EF4-FFF2-40B4-BE49-F238E27FC236}">
                <a16:creationId xmlns:a16="http://schemas.microsoft.com/office/drawing/2014/main" id="{3FD58A9C-0CFF-494B-A92D-42BBC369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8F4B40-B75D-4B50-BC5E-1ED0AE50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28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AFA"/>
          </a:solidFill>
          <a:ln xmlns:a="http://schemas.openxmlformats.org/drawingml/2006/main" w="9525">
            <a:solidFill>
              <a:srgbClr val="D1E5E2"/>
            </a:solidFill>
          </a:ln>
        </p:spPr>
      </p:sp>
      <p:sp>
        <p:nvSpPr>
          <p:cNvPr id="41" name="01">
            <a:extLst xmlns:a="http://schemas.openxmlformats.org/drawingml/2006/main">
              <a:ext uri="{FF2B5EF4-FFF2-40B4-BE49-F238E27FC236}">
                <a16:creationId xmlns:a16="http://schemas.microsoft.com/office/drawing/2014/main" id="{4C608318-3F28-4CEE-88F1-8F562260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00" b="0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42" name="個案／在地端&#10;需求">
            <a:extLst xmlns:a="http://schemas.openxmlformats.org/drawingml/2006/main">
              <a:ext uri="{FF2B5EF4-FFF2-40B4-BE49-F238E27FC236}">
                <a16:creationId xmlns:a16="http://schemas.microsoft.com/office/drawing/2014/main" id="{4688634B-8354-4435-969F-91FDDAA4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428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個案／在地端</a:t>
            </a:r>
          </a:p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需求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711A0D-218A-44F6-87A9-AC9D1728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28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AFA"/>
          </a:solidFill>
          <a:ln xmlns:a="http://schemas.openxmlformats.org/drawingml/2006/main" w="9525">
            <a:solidFill>
              <a:srgbClr val="D1E5E2"/>
            </a:solidFill>
          </a:ln>
        </p:spPr>
      </p:sp>
      <p:sp>
        <p:nvSpPr>
          <p:cNvPr id="44" name="02">
            <a:extLst xmlns:a="http://schemas.openxmlformats.org/drawingml/2006/main">
              <a:ext uri="{FF2B5EF4-FFF2-40B4-BE49-F238E27FC236}">
                <a16:creationId xmlns:a16="http://schemas.microsoft.com/office/drawing/2014/main" id="{326F9A43-8745-4EFF-AD84-BCC87D88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266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45" name="遠距會診&#10;評估">
            <a:extLst xmlns:a="http://schemas.openxmlformats.org/drawingml/2006/main">
              <a:ext uri="{FF2B5EF4-FFF2-40B4-BE49-F238E27FC236}">
                <a16:creationId xmlns:a16="http://schemas.microsoft.com/office/drawing/2014/main" id="{06A734A8-0B1F-471E-B13E-8D6CA185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19425"/>
            <a:ext cx="2428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遠距會診</a:t>
            </a:r>
          </a:p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評估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F0A3C6-03F9-46BB-ACFF-2A1BB289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228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AFA"/>
          </a:solidFill>
          <a:ln xmlns:a="http://schemas.openxmlformats.org/drawingml/2006/main" w="9525">
            <a:solidFill>
              <a:srgbClr val="D1E5E2"/>
            </a:solidFill>
          </a:ln>
        </p:spPr>
      </p:sp>
      <p:sp>
        <p:nvSpPr>
          <p:cNvPr id="47" name="03">
            <a:extLst xmlns:a="http://schemas.openxmlformats.org/drawingml/2006/main">
              <a:ext uri="{FF2B5EF4-FFF2-40B4-BE49-F238E27FC236}">
                <a16:creationId xmlns:a16="http://schemas.microsoft.com/office/drawing/2014/main" id="{3D9B2B7D-0D3C-44F3-91B3-24D56F58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48" name="排程／專科&#10;媒合">
            <a:extLst xmlns:a="http://schemas.openxmlformats.org/drawingml/2006/main">
              <a:ext uri="{FF2B5EF4-FFF2-40B4-BE49-F238E27FC236}">
                <a16:creationId xmlns:a16="http://schemas.microsoft.com/office/drawing/2014/main" id="{96FFDD21-BB00-403E-96B9-927B6D37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19425"/>
            <a:ext cx="2428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排程／專科</a:t>
            </a:r>
          </a:p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媒合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CFEFFA-4920-4983-A70C-4050A0FE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28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AFA"/>
          </a:solidFill>
          <a:ln xmlns:a="http://schemas.openxmlformats.org/drawingml/2006/main" w="9525">
            <a:solidFill>
              <a:srgbClr val="D1E5E2"/>
            </a:solidFill>
          </a:ln>
        </p:spPr>
      </p:sp>
      <p:sp>
        <p:nvSpPr>
          <p:cNvPr id="50" name="04">
            <a:extLst xmlns:a="http://schemas.openxmlformats.org/drawingml/2006/main">
              <a:ext uri="{FF2B5EF4-FFF2-40B4-BE49-F238E27FC236}">
                <a16:creationId xmlns:a16="http://schemas.microsoft.com/office/drawing/2014/main" id="{7DB5A649-684B-4084-87D7-593AE9AD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66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51" name="視訊與影像&#10;資料傳輸">
            <a:extLst xmlns:a="http://schemas.openxmlformats.org/drawingml/2006/main">
              <a:ext uri="{FF2B5EF4-FFF2-40B4-BE49-F238E27FC236}">
                <a16:creationId xmlns:a16="http://schemas.microsoft.com/office/drawing/2014/main" id="{29B7717E-887F-4F19-BB81-7211942E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019425"/>
            <a:ext cx="2428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視訊與影像</a:t>
            </a:r>
          </a:p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資料傳輸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6E651F-520C-46B7-A3CB-9C1F79F3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43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AFA"/>
          </a:solidFill>
          <a:ln xmlns:a="http://schemas.openxmlformats.org/drawingml/2006/main" w="9525">
            <a:solidFill>
              <a:srgbClr val="D1E5E2"/>
            </a:solidFill>
          </a:ln>
        </p:spPr>
      </p:sp>
      <p:sp>
        <p:nvSpPr>
          <p:cNvPr id="53" name="05">
            <a:extLst xmlns:a="http://schemas.openxmlformats.org/drawingml/2006/main">
              <a:ext uri="{FF2B5EF4-FFF2-40B4-BE49-F238E27FC236}">
                <a16:creationId xmlns:a16="http://schemas.microsoft.com/office/drawing/2014/main" id="{B7310B7F-9858-44FF-B99E-61BE8A2D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81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54" name="專科回覆">
            <a:extLst xmlns:a="http://schemas.openxmlformats.org/drawingml/2006/main">
              <a:ext uri="{FF2B5EF4-FFF2-40B4-BE49-F238E27FC236}">
                <a16:creationId xmlns:a16="http://schemas.microsoft.com/office/drawing/2014/main" id="{F636407E-A3A0-49E7-ACD9-6769ED2D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933950"/>
            <a:ext cx="2428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專科回覆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0017B3-4CCB-4926-AA3C-C9871A84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43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AFA"/>
          </a:solidFill>
          <a:ln xmlns:a="http://schemas.openxmlformats.org/drawingml/2006/main" w="9525">
            <a:solidFill>
              <a:srgbClr val="D1E5E2"/>
            </a:solidFill>
          </a:ln>
        </p:spPr>
      </p:sp>
      <p:sp>
        <p:nvSpPr>
          <p:cNvPr id="56" name="06">
            <a:extLst xmlns:a="http://schemas.openxmlformats.org/drawingml/2006/main">
              <a:ext uri="{FF2B5EF4-FFF2-40B4-BE49-F238E27FC236}">
                <a16:creationId xmlns:a16="http://schemas.microsoft.com/office/drawing/2014/main" id="{8FEDB4C1-D1FB-4AF6-B851-58A46984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81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sp>
        <p:nvSpPr>
          <p:cNvPr id="57" name="處置／轉診">
            <a:extLst xmlns:a="http://schemas.openxmlformats.org/drawingml/2006/main">
              <a:ext uri="{FF2B5EF4-FFF2-40B4-BE49-F238E27FC236}">
                <a16:creationId xmlns:a16="http://schemas.microsoft.com/office/drawing/2014/main" id="{DFFBA38A-8B52-4564-B7A0-A793478C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33950"/>
            <a:ext cx="2428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處置／轉診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1A8A07-2C1F-4150-9818-1480A620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43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AFA"/>
          </a:solidFill>
          <a:ln xmlns:a="http://schemas.openxmlformats.org/drawingml/2006/main" w="9525">
            <a:solidFill>
              <a:srgbClr val="D1E5E2"/>
            </a:solidFill>
          </a:ln>
        </p:spPr>
      </p:sp>
      <p:sp>
        <p:nvSpPr>
          <p:cNvPr id="59" name="07">
            <a:extLst xmlns:a="http://schemas.openxmlformats.org/drawingml/2006/main">
              <a:ext uri="{FF2B5EF4-FFF2-40B4-BE49-F238E27FC236}">
                <a16:creationId xmlns:a16="http://schemas.microsoft.com/office/drawing/2014/main" id="{E507845C-F842-4F96-A131-7F6CB91E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181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60" name="申報與&#10;服務量紀錄">
            <a:extLst xmlns:a="http://schemas.openxmlformats.org/drawingml/2006/main">
              <a:ext uri="{FF2B5EF4-FFF2-40B4-BE49-F238E27FC236}">
                <a16:creationId xmlns:a16="http://schemas.microsoft.com/office/drawing/2014/main" id="{DE9E665B-1B2F-4262-BB81-07BDDABC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933950"/>
            <a:ext cx="2428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申報與</a:t>
            </a:r>
          </a:p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服務量紀錄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E1E709-F1AD-4CBA-B746-54FED49A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43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AFA"/>
          </a:solidFill>
          <a:ln xmlns:a="http://schemas.openxmlformats.org/drawingml/2006/main" w="9525">
            <a:solidFill>
              <a:srgbClr val="D1E5E2"/>
            </a:solidFill>
          </a:ln>
        </p:spPr>
      </p:sp>
      <p:sp>
        <p:nvSpPr>
          <p:cNvPr id="62" name="08">
            <a:extLst xmlns:a="http://schemas.openxmlformats.org/drawingml/2006/main">
              <a:ext uri="{FF2B5EF4-FFF2-40B4-BE49-F238E27FC236}">
                <a16:creationId xmlns:a16="http://schemas.microsoft.com/office/drawing/2014/main" id="{32388287-50F6-4172-90FE-95DF7EC4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81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00" b="0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63" name="Dashboard&#10;品質追蹤">
            <a:extLst xmlns:a="http://schemas.openxmlformats.org/drawingml/2006/main">
              <a:ext uri="{FF2B5EF4-FFF2-40B4-BE49-F238E27FC236}">
                <a16:creationId xmlns:a16="http://schemas.microsoft.com/office/drawing/2014/main" id="{CD21B33F-BD40-4CE9-B1A0-C5DFD688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28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Dashboard</a:t>
            </a:r>
          </a:p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品質追蹤</a:t>
            </a:r>
          </a:p>
        </p:txBody>
      </p:sp>
      <p:cxnSp>
        <p:nvCxnSpPr>
          <p:cNvPr id="102" name=""/>
          <p:cNvCxnSpPr>
            <a:stCxn xmlns:a="http://schemas.openxmlformats.org/drawingml/2006/main" id="40" idx="6"/>
            <a:endCxn xmlns:a="http://schemas.openxmlformats.org/drawingml/2006/main" id="43" idx="2"/>
          </p:cNvCxnSpPr>
          <p:nvPr/>
        </p:nvCxnSpPr>
        <p:spPr>
          <a:xfrm xmlns:a="http://schemas.openxmlformats.org/drawingml/2006/main">
            <a:off x="1285875" y="2476500"/>
            <a:ext cx="229552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ABCFCB"/>
            </a:solidFill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43" idx="6"/>
            <a:endCxn xmlns:a="http://schemas.openxmlformats.org/drawingml/2006/main" id="46" idx="2"/>
          </p:cNvCxnSpPr>
          <p:nvPr/>
        </p:nvCxnSpPr>
        <p:spPr>
          <a:xfrm xmlns:a="http://schemas.openxmlformats.org/drawingml/2006/main">
            <a:off x="4076700" y="2476500"/>
            <a:ext cx="229552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ABCFCB"/>
            </a:solidFill>
            <a:tail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46" idx="6"/>
            <a:endCxn xmlns:a="http://schemas.openxmlformats.org/drawingml/2006/main" id="49" idx="2"/>
          </p:cNvCxnSpPr>
          <p:nvPr/>
        </p:nvCxnSpPr>
        <p:spPr>
          <a:xfrm xmlns:a="http://schemas.openxmlformats.org/drawingml/2006/main">
            <a:off x="6867525" y="2476500"/>
            <a:ext cx="229552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ABCFCB"/>
            </a:solidFill>
            <a:tail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49" idx="6"/>
            <a:endCxn xmlns:a="http://schemas.openxmlformats.org/drawingml/2006/main" id="52" idx="6"/>
          </p:cNvCxnSpPr>
          <p:nvPr/>
        </p:nvCxnSpPr>
        <p:spPr>
          <a:xfrm xmlns:a="http://schemas.openxmlformats.org/drawingml/2006/main">
            <a:off x="9658350" y="2476500"/>
            <a:ext cx="2019300" cy="1914525"/>
          </a:xfrm>
          <a:prstGeom xmlns:a="http://schemas.openxmlformats.org/drawingml/2006/main" prst="curvedConnector4">
            <a:avLst/>
          </a:prstGeom>
          <a:ln xmlns:a="http://schemas.openxmlformats.org/drawingml/2006/main" w="10478">
            <a:solidFill>
              <a:srgbClr val="ABCFCB"/>
            </a:solidFill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52" idx="2"/>
            <a:endCxn xmlns:a="http://schemas.openxmlformats.org/drawingml/2006/main" id="55" idx="6"/>
          </p:cNvCxnSpPr>
          <p:nvPr/>
        </p:nvCxnSpPr>
        <p:spPr>
          <a:xfrm xmlns:a="http://schemas.openxmlformats.org/drawingml/2006/main" flipH="1">
            <a:off x="6867525" y="4391025"/>
            <a:ext cx="229552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ABCFCB"/>
            </a:solidFill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55" idx="2"/>
            <a:endCxn xmlns:a="http://schemas.openxmlformats.org/drawingml/2006/main" id="58" idx="6"/>
          </p:cNvCxnSpPr>
          <p:nvPr/>
        </p:nvCxnSpPr>
        <p:spPr>
          <a:xfrm xmlns:a="http://schemas.openxmlformats.org/drawingml/2006/main" flipH="1">
            <a:off x="4076700" y="4391025"/>
            <a:ext cx="229552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ABCFCB"/>
            </a:solidFill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58" idx="2"/>
            <a:endCxn xmlns:a="http://schemas.openxmlformats.org/drawingml/2006/main" id="61" idx="6"/>
          </p:cNvCxnSpPr>
          <p:nvPr/>
        </p:nvCxnSpPr>
        <p:spPr>
          <a:xfrm xmlns:a="http://schemas.openxmlformats.org/drawingml/2006/main" flipH="1">
            <a:off x="1285875" y="4391025"/>
            <a:ext cx="229552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ABCFCB"/>
            </a:solidFill>
            <a:tailEnd type="triangle" w="sm" len="sm"/>
          </a:ln>
        </p:spPr>
      </p:cxnSp>
      <p:sp>
        <p:nvSpPr>
          <p:cNvPr id="71" name="HIS雙向醫令、影像上傳與會診單介接【執行中】">
            <a:extLst xmlns:a="http://schemas.openxmlformats.org/drawingml/2006/main">
              <a:ext uri="{FF2B5EF4-FFF2-40B4-BE49-F238E27FC236}">
                <a16:creationId xmlns:a16="http://schemas.microsoft.com/office/drawing/2014/main" id="{798348DD-6FB2-475E-9432-C0E46BC1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769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HIS雙向醫令、影像上傳與會診單介接【執行中】</a:t>
            </a:r>
          </a:p>
        </p:txBody>
      </p:sp>
    </p:spTree>
    <p:extLst>
      <p:ext uri="{BB962C8B-B14F-4D97-AF65-F5344CB8AC3E}">
        <p14:creationId xmlns:p14="http://schemas.microsoft.com/office/powerpoint/2010/main" val="4894292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09">
            <a:extLst xmlns:a="http://schemas.openxmlformats.org/drawingml/2006/main">
              <a:ext uri="{FF2B5EF4-FFF2-40B4-BE49-F238E27FC236}">
                <a16:creationId xmlns:a16="http://schemas.microsoft.com/office/drawing/2014/main" id="{FBCD7480-1F2A-4F6B-BD79-28DA4DAA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62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2" name="服務模式與專科">
            <a:extLst xmlns:a="http://schemas.openxmlformats.org/drawingml/2006/main">
              <a:ext uri="{FF2B5EF4-FFF2-40B4-BE49-F238E27FC236}">
                <a16:creationId xmlns:a16="http://schemas.microsoft.com/office/drawing/2014/main" id="{F232CE09-4F6A-4D80-BC98-2CE085EF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服務模式與專科</a:t>
            </a:r>
          </a:p>
        </p:txBody>
      </p:sp>
      <p:sp>
        <p:nvSpPr>
          <p:cNvPr id="3" name="依場域需求組合專科支援與影像協作">
            <a:extLst xmlns:a="http://schemas.openxmlformats.org/drawingml/2006/main">
              <a:ext uri="{FF2B5EF4-FFF2-40B4-BE49-F238E27FC236}">
                <a16:creationId xmlns:a16="http://schemas.microsoft.com/office/drawing/2014/main" id="{F126F74D-DFC6-450B-B341-2F91591A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依場域需求組合專科支援與影像協作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80AD2-0C38-4990-8C84-92DB1D2E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5" name="高雄長庚紀念醫院　遠距醫療服務成果">
            <a:extLst xmlns:a="http://schemas.openxmlformats.org/drawingml/2006/main">
              <a:ext uri="{FF2B5EF4-FFF2-40B4-BE49-F238E27FC236}">
                <a16:creationId xmlns:a16="http://schemas.microsoft.com/office/drawing/2014/main" id="{80FD5765-9D85-4C8D-A1D9-3C0D1445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高雄長庚紀念醫院　遠距醫療服務成果</a:t>
            </a:r>
          </a:p>
        </p:txBody>
      </p:sp>
      <p:sp>
        <p:nvSpPr>
          <p:cNvPr id="6" name="09">
            <a:extLst xmlns:a="http://schemas.openxmlformats.org/drawingml/2006/main">
              <a:ext uri="{FF2B5EF4-FFF2-40B4-BE49-F238E27FC236}">
                <a16:creationId xmlns:a16="http://schemas.microsoft.com/office/drawing/2014/main" id="{54F6A52E-4098-4F74-AD31-057EF5B4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7" name="專科遠距門診">
            <a:extLst xmlns:a="http://schemas.openxmlformats.org/drawingml/2006/main">
              <a:ext uri="{FF2B5EF4-FFF2-40B4-BE49-F238E27FC236}">
                <a16:creationId xmlns:a16="http://schemas.microsoft.com/office/drawing/2014/main" id="{3AD90085-DC91-44F4-887C-2298E3B1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專科遠距門診</a:t>
            </a:r>
          </a:p>
        </p:txBody>
      </p:sp>
      <p:sp>
        <p:nvSpPr>
          <p:cNvPr id="8" name="固定排程、醫學中心專科支援">
            <a:extLst xmlns:a="http://schemas.openxmlformats.org/drawingml/2006/main">
              <a:ext uri="{FF2B5EF4-FFF2-40B4-BE49-F238E27FC236}">
                <a16:creationId xmlns:a16="http://schemas.microsoft.com/office/drawing/2014/main" id="{5D853A61-E5EF-4EF3-9630-EB54CB21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98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固定排程、醫學中心專科支援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6B98C-24B8-4810-8EE9-491F8DCF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728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10" name="急診遠距會診">
            <a:extLst xmlns:a="http://schemas.openxmlformats.org/drawingml/2006/main">
              <a:ext uri="{FF2B5EF4-FFF2-40B4-BE49-F238E27FC236}">
                <a16:creationId xmlns:a16="http://schemas.microsoft.com/office/drawing/2014/main" id="{89D64224-2773-4F24-84F3-7C26842D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急診遠距會診</a:t>
            </a:r>
          </a:p>
        </p:txBody>
      </p:sp>
      <p:sp>
        <p:nvSpPr>
          <p:cNvPr id="11" name="即時評估、處置建議與轉診協作">
            <a:extLst xmlns:a="http://schemas.openxmlformats.org/drawingml/2006/main">
              <a:ext uri="{FF2B5EF4-FFF2-40B4-BE49-F238E27FC236}">
                <a16:creationId xmlns:a16="http://schemas.microsoft.com/office/drawing/2014/main" id="{6D742D3B-1CFB-4752-AF52-BE37C934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765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即時評估、處置建議與轉診協作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26B83-13CB-472A-842D-E63728C1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728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13" name="居家／長照">
            <a:extLst xmlns:a="http://schemas.openxmlformats.org/drawingml/2006/main">
              <a:ext uri="{FF2B5EF4-FFF2-40B4-BE49-F238E27FC236}">
                <a16:creationId xmlns:a16="http://schemas.microsoft.com/office/drawing/2014/main" id="{212DE6C9-2FAE-43AF-A237-29668C5E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居家／長照</a:t>
            </a:r>
          </a:p>
        </p:txBody>
      </p:sp>
      <p:sp>
        <p:nvSpPr>
          <p:cNvPr id="14" name="依個案條件與當時規範辦理">
            <a:extLst xmlns:a="http://schemas.openxmlformats.org/drawingml/2006/main">
              <a:ext uri="{FF2B5EF4-FFF2-40B4-BE49-F238E27FC236}">
                <a16:creationId xmlns:a16="http://schemas.microsoft.com/office/drawing/2014/main" id="{4CB07C58-DD9F-43EF-92F7-778E42A5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433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依個案條件與當時規範辦理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DD11C-19C5-4EEE-94C9-63AB15F6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728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16" name="影像／資料協作">
            <a:extLst xmlns:a="http://schemas.openxmlformats.org/drawingml/2006/main">
              <a:ext uri="{FF2B5EF4-FFF2-40B4-BE49-F238E27FC236}">
                <a16:creationId xmlns:a16="http://schemas.microsoft.com/office/drawing/2014/main" id="{132A8750-EEDA-4459-8221-2AC93236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影像／資料協作</a:t>
            </a:r>
          </a:p>
        </p:txBody>
      </p:sp>
      <p:sp>
        <p:nvSpPr>
          <p:cNvPr id="17" name="病灶、眼底影像與會診紀錄">
            <a:extLst xmlns:a="http://schemas.openxmlformats.org/drawingml/2006/main">
              <a:ext uri="{FF2B5EF4-FFF2-40B4-BE49-F238E27FC236}">
                <a16:creationId xmlns:a16="http://schemas.microsoft.com/office/drawing/2014/main" id="{E5305E75-97D9-4725-8003-3D43BB19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100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病灶、眼底影像與會診紀錄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521F8-A7DA-4876-B1F5-70612567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728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19" name="監所／離島">
            <a:extLst xmlns:a="http://schemas.openxmlformats.org/drawingml/2006/main">
              <a:ext uri="{FF2B5EF4-FFF2-40B4-BE49-F238E27FC236}">
                <a16:creationId xmlns:a16="http://schemas.microsoft.com/office/drawing/2014/main" id="{0CC336FF-17C1-4D75-B3C7-A3E0EB7B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監所／離島</a:t>
            </a:r>
          </a:p>
        </p:txBody>
      </p:sp>
      <p:sp>
        <p:nvSpPr>
          <p:cNvPr id="20" name="移動受限場域的專科會診">
            <a:extLst xmlns:a="http://schemas.openxmlformats.org/drawingml/2006/main">
              <a:ext uri="{FF2B5EF4-FFF2-40B4-BE49-F238E27FC236}">
                <a16:creationId xmlns:a16="http://schemas.microsoft.com/office/drawing/2014/main" id="{D0ACAF94-6C43-4E66-9686-84687614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768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移動受限場域的專科會診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20FC5-ABA1-4896-847D-E3F56150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728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06b58e3b24650"/>
          <a:stretch xmlns:a="http://schemas.openxmlformats.org/drawingml/2006/main"/>
        </p:blipFill>
        <p:spPr>
          <a:xfrm xmlns:a="http://schemas.openxmlformats.org/drawingml/2006/main">
            <a:off x="8324850" y="2216150"/>
            <a:ext cx="3381375" cy="2254250"/>
          </a:xfrm>
          <a:prstGeom xmlns:a="http://schemas.openxmlformats.org/drawingml/2006/main" prst="rect">
            <a:avLst/>
          </a:prstGeom>
        </p:spPr>
      </p:pic>
      <p:sp>
        <p:nvSpPr>
          <p:cNvPr id="23" name="至少 8 類服務專科">
            <a:extLst xmlns:a="http://schemas.openxmlformats.org/drawingml/2006/main">
              <a:ext uri="{FF2B5EF4-FFF2-40B4-BE49-F238E27FC236}">
                <a16:creationId xmlns:a16="http://schemas.microsoft.com/office/drawing/2014/main" id="{899FC5D5-5902-4E1E-97ED-1144F540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7529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至少 8 類服務專科</a:t>
            </a:r>
          </a:p>
        </p:txBody>
      </p:sp>
      <p:sp>
        <p:nvSpPr>
          <p:cNvPr id="24" name="皮膚、眼、耳鼻喉、胃腸肝膽&#10;風濕免疫、復健、神經內、急診">
            <a:extLst xmlns:a="http://schemas.openxmlformats.org/drawingml/2006/main">
              <a:ext uri="{FF2B5EF4-FFF2-40B4-BE49-F238E27FC236}">
                <a16:creationId xmlns:a16="http://schemas.microsoft.com/office/drawing/2014/main" id="{45504F59-C5FE-4346-A96A-4DF2AE77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238750"/>
            <a:ext cx="3238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皮膚、眼、耳鼻喉、胃腸肝膽</a:t>
            </a:r>
          </a:p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風濕免疫、復健、神經內、急診</a:t>
            </a:r>
          </a:p>
        </p:txBody>
      </p:sp>
    </p:spTree>
    <p:extLst>
      <p:ext uri="{BB962C8B-B14F-4D97-AF65-F5344CB8AC3E}">
        <p14:creationId xmlns:p14="http://schemas.microsoft.com/office/powerpoint/2010/main" val="215819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41e6e8f5d466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72168-7173-422B-B8F2-EE948B01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62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1D1E9-C207-4C07-876B-784CD479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成果總覽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28C23-2A8B-488F-ABDB-E9E3684E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2026年1–8月遠距醫療服務成果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B2F02-8E42-4DCA-9115-DEA2D384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核心成果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F81E4-7C0C-460F-9235-5FDF4D2E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服務人次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2675B-8C1C-41D6-9E67-44AC2110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4524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4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4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4,217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CFB2B-765F-4C47-8D36-5AEB07DF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9CC7C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B9D6E-869E-4B09-BCF7-29C596C9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395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2026年1–8月遠距醫療服務人次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D30D6-11D1-4A73-902D-659BFF20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對外報告口徑</a:t>
            </a:r>
          </a:p>
          <a:p xmlns:a="http://schemas.openxmlformats.org/drawingml/2006/main">
            <a:pPr>
              <a:buNone/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含腦中風個案468人次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4378C-8AF9-480E-9AD6-DFD5B57C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18122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跨院所服務的支持網絡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5A1DE-FE54-4108-B067-39A41282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62275"/>
            <a:ext cx="266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合作院所／場域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86014-F057-4E43-89CF-EB294044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0520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23 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66B33-761A-497D-BF5C-6B45B01D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62275"/>
            <a:ext cx="266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服務專科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7E37C-F786-400A-AA8F-5D26A7FC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0520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至少 8 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F7941-5F73-4A7F-9E9B-73DCEAB0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24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E4EEE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DFFF9-6E10-4A65-8760-E919443A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482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主要服務區域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1A8AE-7CBF-4C87-93E3-ECE8B11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006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5 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A42519-B500-4345-9D9C-42203527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482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急診合作醫院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91F75-6E46-4D99-9C8A-FC000EA2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006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6 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36786-2924-4358-ADB4-5CDE5DCF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6482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屏東衛生所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87A0F5-0C45-4FD5-93A7-83447A9D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2006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8 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73EEAF-8642-40CB-914F-BA86A439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981700"/>
            <a:ext cx="628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23家依2026年8月Patty核定清冊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994D09-4387-40F6-9B08-093D64C4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26" name="高雄長庚紀念醫院　遠距醫療服務成果">
            <a:extLst xmlns:a="http://schemas.openxmlformats.org/drawingml/2006/main">
              <a:ext uri="{FF2B5EF4-FFF2-40B4-BE49-F238E27FC236}">
                <a16:creationId xmlns:a16="http://schemas.microsoft.com/office/drawing/2014/main" id="{AE4A0E6D-7DD7-4AF5-9268-7B8651BD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高雄長庚紀念醫院　遠距醫療服務成果</a:t>
            </a:r>
          </a:p>
        </p:txBody>
      </p:sp>
      <p:sp>
        <p:nvSpPr>
          <p:cNvPr id="27" name="10">
            <a:extLst xmlns:a="http://schemas.openxmlformats.org/drawingml/2006/main">
              <a:ext uri="{FF2B5EF4-FFF2-40B4-BE49-F238E27FC236}">
                <a16:creationId xmlns:a16="http://schemas.microsoft.com/office/drawing/2014/main" id="{C4B0B134-E22A-4BE7-978D-4CEF2835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05505476"/>
      </p:ext>
    </p:extLst>
  </p:cSld>
</p:sld>
</file>

<file path=ppt/slides/slide1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11">
            <a:extLst>
              <a:ext uri="{FF2B5EF4-FFF2-40B4-BE49-F238E27FC236}">
                <ns2:creationId id="{07D142F9-CB2C-4547-9711-E0F29B69779A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6286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2" name="每月服務量">
            <a:extLst>
              <a:ext uri="{FF2B5EF4-FFF2-40B4-BE49-F238E27FC236}">
                <ns2:creationId id="{DDBBA0CA-2762-4BAF-BFCA-16A7E6E4D6F1}"/>
              </a:ext>
            </a:extLst>
          </p:cNvPr>
          <p:cNvSpPr>
            <a:spLocks noGrp="1"/>
          </p:cNvSpPr>
          <p:nvPr/>
        </p:nvSpPr>
        <p:spPr>
          <a:xfrm>
            <a:off x="1333500" y="457200"/>
            <a:ext cx="1000125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每月服務量</a:t>
            </a:r>
          </a:p>
        </p:txBody>
      </p:sp>
      <p:sp>
        <p:nvSpPr>
          <p:cNvPr id="3" name="2026年1–8月　官方統計口徑">
            <a:extLst>
              <a:ext uri="{FF2B5EF4-FFF2-40B4-BE49-F238E27FC236}">
                <ns2:creationId id="{E8FA2CD8-CADB-4569-8695-81D32683F6A7}"/>
              </a:ext>
            </a:extLst>
          </p:cNvPr>
          <p:cNvSpPr>
            <a:spLocks noGrp="1"/>
          </p:cNvSpPr>
          <p:nvPr/>
        </p:nvSpPr>
        <p:spPr>
          <a:xfrm>
            <a:off x="723900" y="1295400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2026年1–8月　官方統計口徑</a:t>
            </a:r>
          </a:p>
        </p:txBody>
      </p:sp>
      <p:sp>
        <p:nvSpPr>
          <p:cNvPr id="4" name="">
            <a:extLst>
              <a:ext uri="{FF2B5EF4-FFF2-40B4-BE49-F238E27FC236}">
                <ns2:creationId id="{ACB02FBB-466B-476B-A562-71AD5895BC84}"/>
              </a:ext>
            </a:extLst>
          </p:cNvPr>
          <p:cNvSpPr>
            <a:spLocks noGrp="1"/>
          </p:cNvSpPr>
          <p:nvPr/>
        </p:nvSpPr>
        <p:spPr>
          <a:xfrm>
            <a:off x="723900" y="6305550"/>
            <a:ext cx="10744200" cy="0"/>
          </a:xfrm>
          <a:prstGeom prst="line">
            <a:avLst/>
          </a:prstGeom>
          <a:noFill/>
          <a:ln w="9525">
            <a:solidFill>
              <a:srgbClr val="DCE8F1"/>
            </a:solidFill>
          </a:ln>
        </p:spPr>
      </p:sp>
      <p:sp>
        <p:nvSpPr>
          <p:cNvPr id="5" name="高雄長庚紀念醫院　遠距醫療服務成果">
            <a:extLst>
              <a:ext uri="{FF2B5EF4-FFF2-40B4-BE49-F238E27FC236}">
                <ns2:creationId id="{95381E93-04FF-4091-B245-6CEFB907BE4C}"/>
              </a:ext>
            </a:extLst>
          </p:cNvPr>
          <p:cNvSpPr>
            <a:spLocks noGrp="1"/>
          </p:cNvSpPr>
          <p:nvPr/>
        </p:nvSpPr>
        <p:spPr>
          <a:xfrm>
            <a:off x="7239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高雄長庚紀念醫院　遠距醫療服務成果</a:t>
            </a:r>
          </a:p>
        </p:txBody>
      </p:sp>
      <p:sp>
        <p:nvSpPr>
          <p:cNvPr id="6" name="11">
            <a:extLst>
              <a:ext uri="{FF2B5EF4-FFF2-40B4-BE49-F238E27FC236}">
                <ns2:creationId id="{9D1FC187-8CA4-416D-B752-2E9C9A9F239A}"/>
              </a:ext>
            </a:extLst>
          </p:cNvPr>
          <p:cNvSpPr>
            <a:spLocks noGrp="1"/>
          </p:cNvSpPr>
          <p:nvPr/>
        </p:nvSpPr>
        <p:spPr>
          <a:xfrm>
            <a:off x="11106150" y="64198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buNone/>
              <a:def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7" name="3,749">
            <a:extLst>
              <a:ext uri="{FF2B5EF4-FFF2-40B4-BE49-F238E27FC236}">
                <ns2:creationId id="{7511D1BA-FAA3-45F2-8566-A31978C1854D}"/>
              </a:ext>
            </a:extLst>
          </p:cNvPr>
          <p:cNvSpPr>
            <a:spLocks noGrp="1"/>
          </p:cNvSpPr>
          <p:nvPr/>
        </p:nvSpPr>
        <p:spPr>
          <a:xfrm>
            <a:off x="8496300" y="1114425"/>
            <a:ext cx="3000375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52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52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3,749</a:t>
            </a:r>
          </a:p>
        </p:txBody>
      </p:sp>
      <p:sp>
        <p:nvSpPr>
          <p:cNvPr id="8" name="累計人次">
            <a:extLst>
              <a:ext uri="{FF2B5EF4-FFF2-40B4-BE49-F238E27FC236}">
                <ns2:creationId id="{896C8613-3C8E-40C6-9974-AAFC4591EE2B}"/>
              </a:ext>
            </a:extLst>
          </p:cNvPr>
          <p:cNvSpPr>
            <a:spLocks noGrp="1"/>
          </p:cNvSpPr>
          <p:nvPr/>
        </p:nvSpPr>
        <p:spPr>
          <a:xfrm>
            <a:off x="9877425" y="2038350"/>
            <a:ext cx="16954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17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累計人次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="781050" y="2543175"/>
          <a:ext cx="10687050" cy="3133725"/>
        </p:xfrm>
        <a:graphic>
          <a:graphicData uri="http://schemas.openxmlformats.org/drawingml/2006/chart">
            <c:chart r:id="R44aa9f645c5a4df6"/>
          </a:graphicData>
        </a:graphic>
      </p:graphicFrame>
      <p:sp>
        <p:nvSpPr>
          <p:cNvPr id="10" name="單位：人次　不含腦中風個案468人次">
            <a:extLst>
              <a:ext uri="{FF2B5EF4-FFF2-40B4-BE49-F238E27FC236}">
                <ns2:creationId id="{8944D06D-FCAD-4511-891C-3686EC5E2EB2}"/>
              </a:ext>
            </a:extLst>
          </p:cNvPr>
          <p:cNvSpPr>
            <a:spLocks noGrp="1"/>
          </p:cNvSpPr>
          <p:nvPr/>
        </p:nvSpPr>
        <p:spPr>
          <a:xfrm>
            <a:off x="800100" y="5886450"/>
            <a:ext cx="10429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buNone/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單位：人次　不含腦中風個案468人次</a:t>
            </a:r>
          </a:p>
        </p:txBody>
      </p:sp>
    </p:spTree>
    <p:extLst>
      <p:ext uri="{BB962C8B-B14F-4D97-AF65-F5344CB8AC3E}">
        <ns5:creationId val="1549934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12">
            <a:extLst xmlns:a="http://schemas.openxmlformats.org/drawingml/2006/main">
              <a:ext uri="{FF2B5EF4-FFF2-40B4-BE49-F238E27FC236}">
                <a16:creationId xmlns:a16="http://schemas.microsoft.com/office/drawing/2014/main" id="{009810A5-7122-4271-B16B-0EC754C2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2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2" name="服務分布">
            <a:extLst xmlns:a="http://schemas.openxmlformats.org/drawingml/2006/main">
              <a:ext uri="{FF2B5EF4-FFF2-40B4-BE49-F238E27FC236}">
                <a16:creationId xmlns:a16="http://schemas.microsoft.com/office/drawing/2014/main" id="{BC6D3E9C-B491-4B4B-A903-6F6941D1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服務分布</a:t>
            </a:r>
          </a:p>
        </p:txBody>
      </p:sp>
      <p:sp>
        <p:nvSpPr>
          <p:cNvPr id="3" name="2026年1–8月　院所 × 科別服務人次（官方口徑）">
            <a:extLst xmlns:a="http://schemas.openxmlformats.org/drawingml/2006/main">
              <a:ext uri="{FF2B5EF4-FFF2-40B4-BE49-F238E27FC236}">
                <a16:creationId xmlns:a16="http://schemas.microsoft.com/office/drawing/2014/main" id="{AAA17C2E-2931-4B16-A808-19BD3E8B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2026年1–8月　院所 × 科別服務人次（官方口徑）</a:t>
            </a:r>
          </a:p>
        </p:txBody>
      </p:sp>
      <p:sp>
        <p:nvSpPr>
          <p:cNvPr id="4" name="屏東／高雄">
            <a:extLst xmlns:a="http://schemas.openxmlformats.org/drawingml/2006/main">
              <a:ext uri="{FF2B5EF4-FFF2-40B4-BE49-F238E27FC236}">
                <a16:creationId xmlns:a16="http://schemas.microsoft.com/office/drawing/2014/main" id="{938E975F-673D-47B1-A18D-19182625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屏東／高雄</a:t>
            </a:r>
          </a:p>
        </p:txBody>
      </p:sp>
      <p:sp>
        <p:nvSpPr>
          <p:cNvPr id="5" name="澎湖／花蓮／臺東">
            <a:extLst xmlns:a="http://schemas.openxmlformats.org/drawingml/2006/main">
              <a:ext uri="{FF2B5EF4-FFF2-40B4-BE49-F238E27FC236}">
                <a16:creationId xmlns:a16="http://schemas.microsoft.com/office/drawing/2014/main" id="{EE37F32B-5007-4D3B-A17B-A495142F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40970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澎湖／花蓮／臺東</a:t>
            </a:r>
          </a:p>
        </p:txBody>
      </p:sp>
      <p:sp>
        <p:nvSpPr>
          <p:cNvPr id="6" name="牡丹衛生所">
            <a:extLst xmlns:a="http://schemas.openxmlformats.org/drawingml/2006/main">
              <a:ext uri="{FF2B5EF4-FFF2-40B4-BE49-F238E27FC236}">
                <a16:creationId xmlns:a16="http://schemas.microsoft.com/office/drawing/2014/main" id="{025D0E2F-50FF-44C0-AB6F-1F6C4213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牡丹衛生所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C5507-A4DA-484B-BA30-34EC5007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97167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8" name="22">
            <a:extLst xmlns:a="http://schemas.openxmlformats.org/drawingml/2006/main">
              <a:ext uri="{FF2B5EF4-FFF2-40B4-BE49-F238E27FC236}">
                <a16:creationId xmlns:a16="http://schemas.microsoft.com/office/drawing/2014/main" id="{948250D1-BA74-44DE-A264-AD560DBC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9716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E48EB-0996-4E84-A165-D64518F3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7167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D7"/>
          </a:solidFill>
          <a:ln xmlns:a="http://schemas.openxmlformats.org/drawingml/2006/main" w="0">
            <a:noFill/>
          </a:ln>
        </p:spPr>
      </p:sp>
      <p:sp>
        <p:nvSpPr>
          <p:cNvPr id="10" name="130">
            <a:extLst xmlns:a="http://schemas.openxmlformats.org/drawingml/2006/main">
              <a:ext uri="{FF2B5EF4-FFF2-40B4-BE49-F238E27FC236}">
                <a16:creationId xmlns:a16="http://schemas.microsoft.com/office/drawing/2014/main" id="{BB4FE5FE-27E9-47FA-9E55-80541310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716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130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A7CAF-35A1-43C8-97AF-B14ADD97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97167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12" name="2">
            <a:extLst xmlns:a="http://schemas.openxmlformats.org/drawingml/2006/main">
              <a:ext uri="{FF2B5EF4-FFF2-40B4-BE49-F238E27FC236}">
                <a16:creationId xmlns:a16="http://schemas.microsoft.com/office/drawing/2014/main" id="{F002CAB8-6A32-4F25-B8CA-74C4E1DB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9716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B718A-3FF9-475A-B657-2D58D4C9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7167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4" name="—">
            <a:extLst xmlns:a="http://schemas.openxmlformats.org/drawingml/2006/main">
              <a:ext uri="{FF2B5EF4-FFF2-40B4-BE49-F238E27FC236}">
                <a16:creationId xmlns:a16="http://schemas.microsoft.com/office/drawing/2014/main" id="{366C4F40-BB10-49B2-9D0F-065D8FE3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716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62B36A-C23F-4DB3-A888-C061CBCB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97167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6" name="—">
            <a:extLst xmlns:a="http://schemas.openxmlformats.org/drawingml/2006/main">
              <a:ext uri="{FF2B5EF4-FFF2-40B4-BE49-F238E27FC236}">
                <a16:creationId xmlns:a16="http://schemas.microsoft.com/office/drawing/2014/main" id="{3EC2466D-79B2-48ED-BB50-BA046EF4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9716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7" name="琉球衛生所">
            <a:extLst xmlns:a="http://schemas.openxmlformats.org/drawingml/2006/main">
              <a:ext uri="{FF2B5EF4-FFF2-40B4-BE49-F238E27FC236}">
                <a16:creationId xmlns:a16="http://schemas.microsoft.com/office/drawing/2014/main" id="{AC806C63-3721-4DB5-8EDF-3B94FDDB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409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琉球衛生所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14622-CD60-47EC-B4F2-E29D452E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3456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19" name="1">
            <a:extLst xmlns:a="http://schemas.openxmlformats.org/drawingml/2006/main">
              <a:ext uri="{FF2B5EF4-FFF2-40B4-BE49-F238E27FC236}">
                <a16:creationId xmlns:a16="http://schemas.microsoft.com/office/drawing/2014/main" id="{6B1416FF-6FEB-47DE-9434-D5F81B0C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3456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B125B-E59E-48D6-A10B-5C83AFA0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3456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D7"/>
          </a:solidFill>
          <a:ln xmlns:a="http://schemas.openxmlformats.org/drawingml/2006/main" w="0">
            <a:noFill/>
          </a:ln>
        </p:spPr>
      </p:sp>
      <p:sp>
        <p:nvSpPr>
          <p:cNvPr id="21" name="91">
            <a:extLst xmlns:a="http://schemas.openxmlformats.org/drawingml/2006/main">
              <a:ext uri="{FF2B5EF4-FFF2-40B4-BE49-F238E27FC236}">
                <a16:creationId xmlns:a16="http://schemas.microsoft.com/office/drawing/2014/main" id="{695B4DDE-EA5A-477C-AE3F-C2E8536D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3456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91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EA6DC0-D19A-41EF-9881-566BEE7B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23456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</a:ln>
        </p:spPr>
      </p:sp>
      <p:sp>
        <p:nvSpPr>
          <p:cNvPr id="23" name="0">
            <a:extLst xmlns:a="http://schemas.openxmlformats.org/drawingml/2006/main">
              <a:ext uri="{FF2B5EF4-FFF2-40B4-BE49-F238E27FC236}">
                <a16:creationId xmlns:a16="http://schemas.microsoft.com/office/drawing/2014/main" id="{F533F643-E74C-416D-BE9E-5136F84F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23456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A0B938-FCEA-4647-A984-4623808A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3456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5" name="—">
            <a:extLst xmlns:a="http://schemas.openxmlformats.org/drawingml/2006/main">
              <a:ext uri="{FF2B5EF4-FFF2-40B4-BE49-F238E27FC236}">
                <a16:creationId xmlns:a16="http://schemas.microsoft.com/office/drawing/2014/main" id="{193F08FE-D2FB-445B-9501-EEC83348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3456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E1BDC9-F6B9-448D-AFD6-71C9560D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23456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7" name="—">
            <a:extLst xmlns:a="http://schemas.openxmlformats.org/drawingml/2006/main">
              <a:ext uri="{FF2B5EF4-FFF2-40B4-BE49-F238E27FC236}">
                <a16:creationId xmlns:a16="http://schemas.microsoft.com/office/drawing/2014/main" id="{9A5B9358-8823-47BA-9EB3-06F5CE02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23456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8" name="三地門衛生所">
            <a:extLst xmlns:a="http://schemas.openxmlformats.org/drawingml/2006/main">
              <a:ext uri="{FF2B5EF4-FFF2-40B4-BE49-F238E27FC236}">
                <a16:creationId xmlns:a16="http://schemas.microsoft.com/office/drawing/2014/main" id="{3FF3AC82-045F-4C70-9A77-C1CB4686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698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三地門衛生所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756B65-EA25-4A8C-8F68-0B00738C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49745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30" name="27">
            <a:extLst xmlns:a="http://schemas.openxmlformats.org/drawingml/2006/main">
              <a:ext uri="{FF2B5EF4-FFF2-40B4-BE49-F238E27FC236}">
                <a16:creationId xmlns:a16="http://schemas.microsoft.com/office/drawing/2014/main" id="{E794E5DB-4CCA-41F5-B498-81B393F9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49745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27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27C979-45B6-4353-AD43-8B4317C1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9745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D7"/>
          </a:solidFill>
          <a:ln xmlns:a="http://schemas.openxmlformats.org/drawingml/2006/main" w="0">
            <a:noFill/>
          </a:ln>
        </p:spPr>
      </p:sp>
      <p:sp>
        <p:nvSpPr>
          <p:cNvPr id="32" name="93">
            <a:extLst xmlns:a="http://schemas.openxmlformats.org/drawingml/2006/main">
              <a:ext uri="{FF2B5EF4-FFF2-40B4-BE49-F238E27FC236}">
                <a16:creationId xmlns:a16="http://schemas.microsoft.com/office/drawing/2014/main" id="{13E0AE3A-AA68-4ED5-8001-3CCA39E0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9745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93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5CC8ED-A0F9-4B1F-9CC3-E71846E7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9745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34" name="8">
            <a:extLst xmlns:a="http://schemas.openxmlformats.org/drawingml/2006/main">
              <a:ext uri="{FF2B5EF4-FFF2-40B4-BE49-F238E27FC236}">
                <a16:creationId xmlns:a16="http://schemas.microsoft.com/office/drawing/2014/main" id="{F3507C79-819E-4B87-AFC7-2C1D1D8E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9745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C2DA31-68DF-49E0-9980-A4E1230F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9745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36" name="—">
            <a:extLst xmlns:a="http://schemas.openxmlformats.org/drawingml/2006/main">
              <a:ext uri="{FF2B5EF4-FFF2-40B4-BE49-F238E27FC236}">
                <a16:creationId xmlns:a16="http://schemas.microsoft.com/office/drawing/2014/main" id="{D0C6F675-0DC6-41E1-8A18-EA4BF2BF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9745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09C59E-3E8D-4507-9CBB-D49D7346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49745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38" name="—">
            <a:extLst xmlns:a="http://schemas.openxmlformats.org/drawingml/2006/main">
              <a:ext uri="{FF2B5EF4-FFF2-40B4-BE49-F238E27FC236}">
                <a16:creationId xmlns:a16="http://schemas.microsoft.com/office/drawing/2014/main" id="{66417FF6-9DFF-4089-9555-23ABAA57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49745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39" name="霧臺衛生所">
            <a:extLst xmlns:a="http://schemas.openxmlformats.org/drawingml/2006/main">
              <a:ext uri="{FF2B5EF4-FFF2-40B4-BE49-F238E27FC236}">
                <a16:creationId xmlns:a16="http://schemas.microsoft.com/office/drawing/2014/main" id="{FABB532A-9265-4573-850E-2A984E62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987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霧臺衛生所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D2A4F1-03D6-4B77-9F14-EF2123DD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76034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41" name="9">
            <a:extLst xmlns:a="http://schemas.openxmlformats.org/drawingml/2006/main">
              <a:ext uri="{FF2B5EF4-FFF2-40B4-BE49-F238E27FC236}">
                <a16:creationId xmlns:a16="http://schemas.microsoft.com/office/drawing/2014/main" id="{E3706698-998D-4EA4-BC41-68B33B67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76034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E0525A-9B16-4622-A1EE-A769AE41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6034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43" name="38">
            <a:extLst xmlns:a="http://schemas.openxmlformats.org/drawingml/2006/main">
              <a:ext uri="{FF2B5EF4-FFF2-40B4-BE49-F238E27FC236}">
                <a16:creationId xmlns:a16="http://schemas.microsoft.com/office/drawing/2014/main" id="{5EAEB292-6FCD-4793-B1EC-F4E3B764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6034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38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37395D-9FA6-46EF-BA15-65236A6E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6034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45" name="4">
            <a:extLst xmlns:a="http://schemas.openxmlformats.org/drawingml/2006/main">
              <a:ext uri="{FF2B5EF4-FFF2-40B4-BE49-F238E27FC236}">
                <a16:creationId xmlns:a16="http://schemas.microsoft.com/office/drawing/2014/main" id="{EC47C9EA-2931-465F-A92E-6855CBB2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6034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AD31EB-8971-46E8-8C97-1AAC2456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76034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47" name="—">
            <a:extLst xmlns:a="http://schemas.openxmlformats.org/drawingml/2006/main">
              <a:ext uri="{FF2B5EF4-FFF2-40B4-BE49-F238E27FC236}">
                <a16:creationId xmlns:a16="http://schemas.microsoft.com/office/drawing/2014/main" id="{4125E568-905F-4D4F-BFDC-2BB23B4D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76034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AACA06-6F02-4CE6-AFB4-A9200307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6034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49" name="—">
            <a:extLst xmlns:a="http://schemas.openxmlformats.org/drawingml/2006/main">
              <a:ext uri="{FF2B5EF4-FFF2-40B4-BE49-F238E27FC236}">
                <a16:creationId xmlns:a16="http://schemas.microsoft.com/office/drawing/2014/main" id="{26F7EB52-8FFA-46F9-BD3F-5F12637C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6034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50" name="獅子衛生所">
            <a:extLst xmlns:a="http://schemas.openxmlformats.org/drawingml/2006/main">
              <a:ext uri="{FF2B5EF4-FFF2-40B4-BE49-F238E27FC236}">
                <a16:creationId xmlns:a16="http://schemas.microsoft.com/office/drawing/2014/main" id="{BBF81D85-C864-408F-942F-F759DA15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276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獅子衛生所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09E93A-DF15-46D5-AC89-33EAD9A8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02323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52" name="5">
            <a:extLst xmlns:a="http://schemas.openxmlformats.org/drawingml/2006/main">
              <a:ext uri="{FF2B5EF4-FFF2-40B4-BE49-F238E27FC236}">
                <a16:creationId xmlns:a16="http://schemas.microsoft.com/office/drawing/2014/main" id="{52537B6C-DB1A-406D-9D33-D947D5D2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02323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2A36F4-295F-4E5D-9A94-F8B87D41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2323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54" name="36">
            <a:extLst xmlns:a="http://schemas.openxmlformats.org/drawingml/2006/main">
              <a:ext uri="{FF2B5EF4-FFF2-40B4-BE49-F238E27FC236}">
                <a16:creationId xmlns:a16="http://schemas.microsoft.com/office/drawing/2014/main" id="{71CEC45A-E98D-4C34-B39E-C4D08DD2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2323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36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B5D0C7-A4A5-4584-85FD-CF8DAAE9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02323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56" name="—">
            <a:extLst xmlns:a="http://schemas.openxmlformats.org/drawingml/2006/main">
              <a:ext uri="{FF2B5EF4-FFF2-40B4-BE49-F238E27FC236}">
                <a16:creationId xmlns:a16="http://schemas.microsoft.com/office/drawing/2014/main" id="{740A1D00-300D-4C87-BA5F-1ACD616A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02323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6E657B-77BB-4933-9787-E4EDB63F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2323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58" name="—">
            <a:extLst xmlns:a="http://schemas.openxmlformats.org/drawingml/2006/main">
              <a:ext uri="{FF2B5EF4-FFF2-40B4-BE49-F238E27FC236}">
                <a16:creationId xmlns:a16="http://schemas.microsoft.com/office/drawing/2014/main" id="{428A9852-2BD7-43CF-AC7E-91304B0B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2323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F2EBC2-9D4F-4078-8864-27C6A207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2323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60" name="—">
            <a:extLst xmlns:a="http://schemas.openxmlformats.org/drawingml/2006/main">
              <a:ext uri="{FF2B5EF4-FFF2-40B4-BE49-F238E27FC236}">
                <a16:creationId xmlns:a16="http://schemas.microsoft.com/office/drawing/2014/main" id="{C302272E-7E40-4057-81FF-CEC74621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2323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61" name="瑪家衛生所">
            <a:extLst xmlns:a="http://schemas.openxmlformats.org/drawingml/2006/main">
              <a:ext uri="{FF2B5EF4-FFF2-40B4-BE49-F238E27FC236}">
                <a16:creationId xmlns:a16="http://schemas.microsoft.com/office/drawing/2014/main" id="{BF000E3F-556B-40D8-B827-7A4BB521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瑪家衛生所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33B4258-08F6-4D0B-9820-414757E5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28612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63" name="2">
            <a:extLst xmlns:a="http://schemas.openxmlformats.org/drawingml/2006/main">
              <a:ext uri="{FF2B5EF4-FFF2-40B4-BE49-F238E27FC236}">
                <a16:creationId xmlns:a16="http://schemas.microsoft.com/office/drawing/2014/main" id="{3547D3E7-1CD6-4EFD-A553-EFFE8DBA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2861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69DD49-CBB5-4B47-9A94-C1922398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8612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</a:ln>
        </p:spPr>
      </p:sp>
      <p:sp>
        <p:nvSpPr>
          <p:cNvPr id="65" name="0">
            <a:extLst xmlns:a="http://schemas.openxmlformats.org/drawingml/2006/main">
              <a:ext uri="{FF2B5EF4-FFF2-40B4-BE49-F238E27FC236}">
                <a16:creationId xmlns:a16="http://schemas.microsoft.com/office/drawing/2014/main" id="{6531981F-9790-42D1-A3EB-F9CEFE77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861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D00A30B-087A-4246-9C15-5660619E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8612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67" name="1">
            <a:extLst xmlns:a="http://schemas.openxmlformats.org/drawingml/2006/main">
              <a:ext uri="{FF2B5EF4-FFF2-40B4-BE49-F238E27FC236}">
                <a16:creationId xmlns:a16="http://schemas.microsoft.com/office/drawing/2014/main" id="{9D0B6A47-5F49-4D6B-9B33-B23CFCE1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861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867EE6-6D73-4B45-9A78-87C01413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8612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69" name="—">
            <a:extLst xmlns:a="http://schemas.openxmlformats.org/drawingml/2006/main">
              <a:ext uri="{FF2B5EF4-FFF2-40B4-BE49-F238E27FC236}">
                <a16:creationId xmlns:a16="http://schemas.microsoft.com/office/drawing/2014/main" id="{63CB7F4F-D4C5-4077-8809-8B60D2CB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861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0B9E6A1-B18B-4745-960A-8A1EF23E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28612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71" name="—">
            <a:extLst xmlns:a="http://schemas.openxmlformats.org/drawingml/2006/main">
              <a:ext uri="{FF2B5EF4-FFF2-40B4-BE49-F238E27FC236}">
                <a16:creationId xmlns:a16="http://schemas.microsoft.com/office/drawing/2014/main" id="{76276523-7228-474D-B6D4-A5984A99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2861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72" name="來義衛生所">
            <a:extLst xmlns:a="http://schemas.openxmlformats.org/drawingml/2006/main">
              <a:ext uri="{FF2B5EF4-FFF2-40B4-BE49-F238E27FC236}">
                <a16:creationId xmlns:a16="http://schemas.microsoft.com/office/drawing/2014/main" id="{26D02479-F8E5-404E-B24D-04FB5324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854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來義衛生所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385789A-613A-4CED-AFA3-64EEDEC0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54901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74" name="16">
            <a:extLst xmlns:a="http://schemas.openxmlformats.org/drawingml/2006/main">
              <a:ext uri="{FF2B5EF4-FFF2-40B4-BE49-F238E27FC236}">
                <a16:creationId xmlns:a16="http://schemas.microsoft.com/office/drawing/2014/main" id="{94D4115E-A0D2-4B00-9019-36537D91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54901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16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326A4D8-4378-4AC7-A7C9-13D180E4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54901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D7"/>
          </a:solidFill>
          <a:ln xmlns:a="http://schemas.openxmlformats.org/drawingml/2006/main" w="0">
            <a:noFill/>
          </a:ln>
        </p:spPr>
      </p:sp>
      <p:sp>
        <p:nvSpPr>
          <p:cNvPr id="76" name="81">
            <a:extLst xmlns:a="http://schemas.openxmlformats.org/drawingml/2006/main">
              <a:ext uri="{FF2B5EF4-FFF2-40B4-BE49-F238E27FC236}">
                <a16:creationId xmlns:a16="http://schemas.microsoft.com/office/drawing/2014/main" id="{DD29E7F7-8CAD-4F82-BA0E-99267133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54901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81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1136D4A-2F6A-49D3-8564-4DCDAF30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4901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78" name="4">
            <a:extLst xmlns:a="http://schemas.openxmlformats.org/drawingml/2006/main">
              <a:ext uri="{FF2B5EF4-FFF2-40B4-BE49-F238E27FC236}">
                <a16:creationId xmlns:a16="http://schemas.microsoft.com/office/drawing/2014/main" id="{99DDC8C3-8589-41EE-B5C9-2130FEC8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4901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902A0EE-A3A7-412E-822E-2A65628F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4901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80" name="—">
            <a:extLst xmlns:a="http://schemas.openxmlformats.org/drawingml/2006/main">
              <a:ext uri="{FF2B5EF4-FFF2-40B4-BE49-F238E27FC236}">
                <a16:creationId xmlns:a16="http://schemas.microsoft.com/office/drawing/2014/main" id="{3778EFD6-E90F-4FBE-AC75-FD90F020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4901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AED927A-FD64-4DEA-ABA1-1FDBA4AD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54901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82" name="—">
            <a:extLst xmlns:a="http://schemas.openxmlformats.org/drawingml/2006/main">
              <a:ext uri="{FF2B5EF4-FFF2-40B4-BE49-F238E27FC236}">
                <a16:creationId xmlns:a16="http://schemas.microsoft.com/office/drawing/2014/main" id="{896F6E24-E9AA-4B87-BEEC-0BE41628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54901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83" name="春日衛生所">
            <a:extLst xmlns:a="http://schemas.openxmlformats.org/drawingml/2006/main">
              <a:ext uri="{FF2B5EF4-FFF2-40B4-BE49-F238E27FC236}">
                <a16:creationId xmlns:a16="http://schemas.microsoft.com/office/drawing/2014/main" id="{6D612678-FEE3-486C-91BE-19846E9D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143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春日衛生所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887A151-362A-4D19-BF12-9F9216AF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81190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</a:ln>
        </p:spPr>
      </p:sp>
      <p:sp>
        <p:nvSpPr>
          <p:cNvPr id="85" name="0">
            <a:extLst xmlns:a="http://schemas.openxmlformats.org/drawingml/2006/main">
              <a:ext uri="{FF2B5EF4-FFF2-40B4-BE49-F238E27FC236}">
                <a16:creationId xmlns:a16="http://schemas.microsoft.com/office/drawing/2014/main" id="{F15B293B-689F-4567-AF4A-5082EE67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81190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3B3F1EE-A8AD-42B2-969C-A7813DD2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190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D7"/>
          </a:solidFill>
          <a:ln xmlns:a="http://schemas.openxmlformats.org/drawingml/2006/main" w="0">
            <a:noFill/>
          </a:ln>
        </p:spPr>
      </p:sp>
      <p:sp>
        <p:nvSpPr>
          <p:cNvPr id="87" name="53">
            <a:extLst xmlns:a="http://schemas.openxmlformats.org/drawingml/2006/main">
              <a:ext uri="{FF2B5EF4-FFF2-40B4-BE49-F238E27FC236}">
                <a16:creationId xmlns:a16="http://schemas.microsoft.com/office/drawing/2014/main" id="{D6C9C9D9-AB3C-4D1A-B382-740AD459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190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53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00567BB-34B5-477B-A3DB-8A580B51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81190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</a:ln>
        </p:spPr>
      </p:sp>
      <p:sp>
        <p:nvSpPr>
          <p:cNvPr id="89" name="0">
            <a:extLst xmlns:a="http://schemas.openxmlformats.org/drawingml/2006/main">
              <a:ext uri="{FF2B5EF4-FFF2-40B4-BE49-F238E27FC236}">
                <a16:creationId xmlns:a16="http://schemas.microsoft.com/office/drawing/2014/main" id="{275F24EB-B13D-4FAD-AD35-5CF1C922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81190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8FBCD9C-04D7-4C7F-AA07-827AD996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1190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91" name="—">
            <a:extLst xmlns:a="http://schemas.openxmlformats.org/drawingml/2006/main">
              <a:ext uri="{FF2B5EF4-FFF2-40B4-BE49-F238E27FC236}">
                <a16:creationId xmlns:a16="http://schemas.microsoft.com/office/drawing/2014/main" id="{F8A00B8E-538E-4A6C-8DE1-E4F6986C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1190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C1E42BC-47AB-44D6-8F39-D353DFCF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81190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93" name="—">
            <a:extLst xmlns:a="http://schemas.openxmlformats.org/drawingml/2006/main">
              <a:ext uri="{FF2B5EF4-FFF2-40B4-BE49-F238E27FC236}">
                <a16:creationId xmlns:a16="http://schemas.microsoft.com/office/drawing/2014/main" id="{809BFF8B-60AD-45F6-A0F1-E5428C3E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81190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94" name="恆春旅遊醫院">
            <a:extLst xmlns:a="http://schemas.openxmlformats.org/drawingml/2006/main">
              <a:ext uri="{FF2B5EF4-FFF2-40B4-BE49-F238E27FC236}">
                <a16:creationId xmlns:a16="http://schemas.microsoft.com/office/drawing/2014/main" id="{AD9D5A8E-03AB-4138-9624-1FA4BF9E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432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恆春旅遊醫院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7FE3B2F-AA64-497D-B76B-46DF4847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07479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8B"/>
          </a:solidFill>
          <a:ln xmlns:a="http://schemas.openxmlformats.org/drawingml/2006/main" w="0">
            <a:noFill/>
          </a:ln>
        </p:spPr>
      </p:sp>
      <p:sp>
        <p:nvSpPr>
          <p:cNvPr id="96" name="561">
            <a:extLst xmlns:a="http://schemas.openxmlformats.org/drawingml/2006/main">
              <a:ext uri="{FF2B5EF4-FFF2-40B4-BE49-F238E27FC236}">
                <a16:creationId xmlns:a16="http://schemas.microsoft.com/office/drawing/2014/main" id="{1159BDA7-35C7-4E09-8CA7-2244A695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07479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561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A29CB67-A38F-4A4F-8DE4-1FDA2D55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7479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B5AE"/>
          </a:solidFill>
          <a:ln xmlns:a="http://schemas.openxmlformats.org/drawingml/2006/main" w="0">
            <a:noFill/>
          </a:ln>
        </p:spPr>
      </p:sp>
      <p:sp>
        <p:nvSpPr>
          <p:cNvPr id="98" name="210">
            <a:extLst xmlns:a="http://schemas.openxmlformats.org/drawingml/2006/main">
              <a:ext uri="{FF2B5EF4-FFF2-40B4-BE49-F238E27FC236}">
                <a16:creationId xmlns:a16="http://schemas.microsoft.com/office/drawing/2014/main" id="{AA4D5E5B-A710-44DA-8775-E0919A8B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7479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210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F2494F8-C309-46D7-B5FA-4E4ACC3B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07479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</a:ln>
        </p:spPr>
      </p:sp>
      <p:sp>
        <p:nvSpPr>
          <p:cNvPr id="100" name="0">
            <a:extLst xmlns:a="http://schemas.openxmlformats.org/drawingml/2006/main">
              <a:ext uri="{FF2B5EF4-FFF2-40B4-BE49-F238E27FC236}">
                <a16:creationId xmlns:a16="http://schemas.microsoft.com/office/drawing/2014/main" id="{C88B0F3C-8A59-460F-B3AB-6249638D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07479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FFA30D5-5BA8-432F-A61F-7DD26D04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7479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D7"/>
          </a:solidFill>
          <a:ln xmlns:a="http://schemas.openxmlformats.org/drawingml/2006/main" w="0">
            <a:noFill/>
          </a:ln>
        </p:spPr>
      </p:sp>
      <p:sp>
        <p:nvSpPr>
          <p:cNvPr id="102" name="74">
            <a:extLst xmlns:a="http://schemas.openxmlformats.org/drawingml/2006/main">
              <a:ext uri="{FF2B5EF4-FFF2-40B4-BE49-F238E27FC236}">
                <a16:creationId xmlns:a16="http://schemas.microsoft.com/office/drawing/2014/main" id="{293FC764-5BB5-4F97-9EBF-4D032243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7479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74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B284F67-D39A-482A-BB60-BBCDF62A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07479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</a:ln>
        </p:spPr>
      </p:sp>
      <p:sp>
        <p:nvSpPr>
          <p:cNvPr id="104" name="0">
            <a:extLst xmlns:a="http://schemas.openxmlformats.org/drawingml/2006/main">
              <a:ext uri="{FF2B5EF4-FFF2-40B4-BE49-F238E27FC236}">
                <a16:creationId xmlns:a16="http://schemas.microsoft.com/office/drawing/2014/main" id="{63270346-5458-4A99-9A32-254EE3D0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07479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105" name="甲仙衛生所">
            <a:extLst xmlns:a="http://schemas.openxmlformats.org/drawingml/2006/main">
              <a:ext uri="{FF2B5EF4-FFF2-40B4-BE49-F238E27FC236}">
                <a16:creationId xmlns:a16="http://schemas.microsoft.com/office/drawing/2014/main" id="{6A35244A-D518-493A-BBF6-7E400406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721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甲仙衛生所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F345F16-9D66-4A06-94AA-5CE4D1B6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33768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107" name="13">
            <a:extLst xmlns:a="http://schemas.openxmlformats.org/drawingml/2006/main">
              <a:ext uri="{FF2B5EF4-FFF2-40B4-BE49-F238E27FC236}">
                <a16:creationId xmlns:a16="http://schemas.microsoft.com/office/drawing/2014/main" id="{7B489E5B-3BF4-42F0-9675-295986F4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33768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D50786E-45EE-4C3A-A758-CF4E7BE9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3768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109" name="10">
            <a:extLst xmlns:a="http://schemas.openxmlformats.org/drawingml/2006/main">
              <a:ext uri="{FF2B5EF4-FFF2-40B4-BE49-F238E27FC236}">
                <a16:creationId xmlns:a16="http://schemas.microsoft.com/office/drawing/2014/main" id="{6803AFE9-196A-4740-A9AF-223E3BBD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3768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522B59E-0389-4D36-97D2-181F6765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33768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11" name="—">
            <a:extLst xmlns:a="http://schemas.openxmlformats.org/drawingml/2006/main">
              <a:ext uri="{FF2B5EF4-FFF2-40B4-BE49-F238E27FC236}">
                <a16:creationId xmlns:a16="http://schemas.microsoft.com/office/drawing/2014/main" id="{E6AC1664-6EA9-4435-9D8E-128D3D5E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33768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8A05257-04AD-4356-B5C5-ED60A653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3768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13" name="—">
            <a:extLst xmlns:a="http://schemas.openxmlformats.org/drawingml/2006/main">
              <a:ext uri="{FF2B5EF4-FFF2-40B4-BE49-F238E27FC236}">
                <a16:creationId xmlns:a16="http://schemas.microsoft.com/office/drawing/2014/main" id="{52E4ECC9-5E4D-4952-8917-A06A4D1B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3768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2CC7964-38DE-4562-BA9A-00F0AF27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33768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15" name="—">
            <a:extLst xmlns:a="http://schemas.openxmlformats.org/drawingml/2006/main">
              <a:ext uri="{FF2B5EF4-FFF2-40B4-BE49-F238E27FC236}">
                <a16:creationId xmlns:a16="http://schemas.microsoft.com/office/drawing/2014/main" id="{5281D2D2-4211-4DE3-8686-8252EF59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33768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16" name="南門醫院">
            <a:extLst xmlns:a="http://schemas.openxmlformats.org/drawingml/2006/main">
              <a:ext uri="{FF2B5EF4-FFF2-40B4-BE49-F238E27FC236}">
                <a16:creationId xmlns:a16="http://schemas.microsoft.com/office/drawing/2014/main" id="{EF200460-1830-4B54-B2CC-1B0531FB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南門醫院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1CDC173-9E87-459E-95F8-766E2080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60057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18" name="—">
            <a:extLst xmlns:a="http://schemas.openxmlformats.org/drawingml/2006/main">
              <a:ext uri="{FF2B5EF4-FFF2-40B4-BE49-F238E27FC236}">
                <a16:creationId xmlns:a16="http://schemas.microsoft.com/office/drawing/2014/main" id="{0AED9FE4-9CFA-4933-89AE-88DC917E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6005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475D473-98CA-4125-8D1D-AD52D6E1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0057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20" name="—">
            <a:extLst xmlns:a="http://schemas.openxmlformats.org/drawingml/2006/main">
              <a:ext uri="{FF2B5EF4-FFF2-40B4-BE49-F238E27FC236}">
                <a16:creationId xmlns:a16="http://schemas.microsoft.com/office/drawing/2014/main" id="{D54C2B8B-EFF3-49B0-8015-63392649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005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8F65712-3422-48EE-81F4-6DBAB47C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0057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22" name="—">
            <a:extLst xmlns:a="http://schemas.openxmlformats.org/drawingml/2006/main">
              <a:ext uri="{FF2B5EF4-FFF2-40B4-BE49-F238E27FC236}">
                <a16:creationId xmlns:a16="http://schemas.microsoft.com/office/drawing/2014/main" id="{BC9B682E-99E0-466D-A5DC-10163B07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005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933455D-ED66-4211-BE20-D86B3CD6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0057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24" name="—">
            <a:extLst xmlns:a="http://schemas.openxmlformats.org/drawingml/2006/main">
              <a:ext uri="{FF2B5EF4-FFF2-40B4-BE49-F238E27FC236}">
                <a16:creationId xmlns:a16="http://schemas.microsoft.com/office/drawing/2014/main" id="{15AF5AB1-AA2C-497C-9EA1-86785855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005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800BF2F-725B-4055-924A-BB51240D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60057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</a:ln>
        </p:spPr>
      </p:sp>
      <p:sp>
        <p:nvSpPr>
          <p:cNvPr id="126" name="0">
            <a:extLst xmlns:a="http://schemas.openxmlformats.org/drawingml/2006/main">
              <a:ext uri="{FF2B5EF4-FFF2-40B4-BE49-F238E27FC236}">
                <a16:creationId xmlns:a16="http://schemas.microsoft.com/office/drawing/2014/main" id="{F08E7138-8E49-4354-AFFD-4E7BE0C5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6005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127" name="枋寮醫院">
            <a:extLst xmlns:a="http://schemas.openxmlformats.org/drawingml/2006/main">
              <a:ext uri="{FF2B5EF4-FFF2-40B4-BE49-F238E27FC236}">
                <a16:creationId xmlns:a16="http://schemas.microsoft.com/office/drawing/2014/main" id="{AF789C18-BDDD-48B5-A76B-7B71FE46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299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枋寮醫院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59871F4-6D89-482C-B560-1A2A681E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86346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29" name="—">
            <a:extLst xmlns:a="http://schemas.openxmlformats.org/drawingml/2006/main">
              <a:ext uri="{FF2B5EF4-FFF2-40B4-BE49-F238E27FC236}">
                <a16:creationId xmlns:a16="http://schemas.microsoft.com/office/drawing/2014/main" id="{E8667B93-FD91-49C3-ACC4-B4E434E2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86346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117F3DD-4A53-4C9D-B50D-D96F7143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6346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31" name="—">
            <a:extLst xmlns:a="http://schemas.openxmlformats.org/drawingml/2006/main">
              <a:ext uri="{FF2B5EF4-FFF2-40B4-BE49-F238E27FC236}">
                <a16:creationId xmlns:a16="http://schemas.microsoft.com/office/drawing/2014/main" id="{C62865DB-BD0B-4F59-A99F-E295D669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6346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57FE06A-C86B-4C2D-BADF-B597E780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86346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33" name="—">
            <a:extLst xmlns:a="http://schemas.openxmlformats.org/drawingml/2006/main">
              <a:ext uri="{FF2B5EF4-FFF2-40B4-BE49-F238E27FC236}">
                <a16:creationId xmlns:a16="http://schemas.microsoft.com/office/drawing/2014/main" id="{BCCDA9FA-2D04-4A31-A313-E8D479C3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86346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E634F5C-9726-4C2D-A7B1-FDDA7321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86346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35" name="—">
            <a:extLst xmlns:a="http://schemas.openxmlformats.org/drawingml/2006/main">
              <a:ext uri="{FF2B5EF4-FFF2-40B4-BE49-F238E27FC236}">
                <a16:creationId xmlns:a16="http://schemas.microsoft.com/office/drawing/2014/main" id="{FF796396-E820-4A99-8A3B-EF93E777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86346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E71630A-1C30-428D-8619-AE610AB6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86346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137" name="26">
            <a:extLst xmlns:a="http://schemas.openxmlformats.org/drawingml/2006/main">
              <a:ext uri="{FF2B5EF4-FFF2-40B4-BE49-F238E27FC236}">
                <a16:creationId xmlns:a16="http://schemas.microsoft.com/office/drawing/2014/main" id="{2EDC116C-D5CD-4BA6-A0CA-B191AA06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86346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26</a:t>
            </a:r>
          </a:p>
        </p:txBody>
      </p:sp>
      <p:sp>
        <p:nvSpPr>
          <p:cNvPr id="138" name="恆春基督教">
            <a:extLst xmlns:a="http://schemas.openxmlformats.org/drawingml/2006/main">
              <a:ext uri="{FF2B5EF4-FFF2-40B4-BE49-F238E27FC236}">
                <a16:creationId xmlns:a16="http://schemas.microsoft.com/office/drawing/2014/main" id="{47B386CE-01E8-4E57-8F91-51D9D7CC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588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恆春基督教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C4C68D3-518D-40EE-9167-6627131F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12635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40" name="—">
            <a:extLst xmlns:a="http://schemas.openxmlformats.org/drawingml/2006/main">
              <a:ext uri="{FF2B5EF4-FFF2-40B4-BE49-F238E27FC236}">
                <a16:creationId xmlns:a16="http://schemas.microsoft.com/office/drawing/2014/main" id="{9B3BF7F7-BD1F-4A7A-944F-81C27F8C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12635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469A59F-77DE-4C4F-B0DD-85BB7CC8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12635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42" name="—">
            <a:extLst xmlns:a="http://schemas.openxmlformats.org/drawingml/2006/main">
              <a:ext uri="{FF2B5EF4-FFF2-40B4-BE49-F238E27FC236}">
                <a16:creationId xmlns:a16="http://schemas.microsoft.com/office/drawing/2014/main" id="{FC477D9F-97EE-4025-BF40-AD02F64E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12635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C4B735D-CE08-4CB8-BECF-262C5427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12635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44" name="—">
            <a:extLst xmlns:a="http://schemas.openxmlformats.org/drawingml/2006/main">
              <a:ext uri="{FF2B5EF4-FFF2-40B4-BE49-F238E27FC236}">
                <a16:creationId xmlns:a16="http://schemas.microsoft.com/office/drawing/2014/main" id="{15F5C5DE-F6D6-4A3F-BC15-2FF30591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12635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6FA851F-F4A7-4729-96C5-9C689A42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12635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46" name="—">
            <a:extLst xmlns:a="http://schemas.openxmlformats.org/drawingml/2006/main">
              <a:ext uri="{FF2B5EF4-FFF2-40B4-BE49-F238E27FC236}">
                <a16:creationId xmlns:a16="http://schemas.microsoft.com/office/drawing/2014/main" id="{C0875058-7413-480B-802C-3EDB726E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12635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B24390D-5725-4897-B4E7-DC0A09C7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12635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</a:ln>
        </p:spPr>
      </p:sp>
      <p:sp>
        <p:nvSpPr>
          <p:cNvPr id="148" name="0">
            <a:extLst xmlns:a="http://schemas.openxmlformats.org/drawingml/2006/main">
              <a:ext uri="{FF2B5EF4-FFF2-40B4-BE49-F238E27FC236}">
                <a16:creationId xmlns:a16="http://schemas.microsoft.com/office/drawing/2014/main" id="{2B86068B-A02D-4609-BEBB-B8653C7B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12635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149" name="大新醫院">
            <a:extLst xmlns:a="http://schemas.openxmlformats.org/drawingml/2006/main">
              <a:ext uri="{FF2B5EF4-FFF2-40B4-BE49-F238E27FC236}">
                <a16:creationId xmlns:a16="http://schemas.microsoft.com/office/drawing/2014/main" id="{30262E15-4780-4C2B-9056-A0AA29DD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877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大新醫院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3285D19-BDEB-4A8F-814D-F2058D57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38924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51" name="—">
            <a:extLst xmlns:a="http://schemas.openxmlformats.org/drawingml/2006/main">
              <a:ext uri="{FF2B5EF4-FFF2-40B4-BE49-F238E27FC236}">
                <a16:creationId xmlns:a16="http://schemas.microsoft.com/office/drawing/2014/main" id="{B4E077C3-5A76-4D66-8489-4BF456DF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38924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FF6A351-548E-467C-9DCA-5586CCD6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8924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53" name="—">
            <a:extLst xmlns:a="http://schemas.openxmlformats.org/drawingml/2006/main">
              <a:ext uri="{FF2B5EF4-FFF2-40B4-BE49-F238E27FC236}">
                <a16:creationId xmlns:a16="http://schemas.microsoft.com/office/drawing/2014/main" id="{53248C59-06FC-4397-B71D-5251C4C0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8924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B97325E-6034-4C85-9E65-A589C55C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38924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55" name="—">
            <a:extLst xmlns:a="http://schemas.openxmlformats.org/drawingml/2006/main">
              <a:ext uri="{FF2B5EF4-FFF2-40B4-BE49-F238E27FC236}">
                <a16:creationId xmlns:a16="http://schemas.microsoft.com/office/drawing/2014/main" id="{EF6F88E6-7A5E-46DE-B353-ED1370DD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38924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8BBAB06-CD07-4A29-AB7E-89D666A1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38924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57" name="—">
            <a:extLst xmlns:a="http://schemas.openxmlformats.org/drawingml/2006/main">
              <a:ext uri="{FF2B5EF4-FFF2-40B4-BE49-F238E27FC236}">
                <a16:creationId xmlns:a16="http://schemas.microsoft.com/office/drawing/2014/main" id="{F39FEFC4-AC26-4D24-B345-4E1D30AC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38924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E0AC04C-2832-4FD2-BE02-4B47968E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38924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159" name="1">
            <a:extLst xmlns:a="http://schemas.openxmlformats.org/drawingml/2006/main">
              <a:ext uri="{FF2B5EF4-FFF2-40B4-BE49-F238E27FC236}">
                <a16:creationId xmlns:a16="http://schemas.microsoft.com/office/drawing/2014/main" id="{BC42DA07-83BF-4F95-BB42-21143E15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38924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160" name="安泰醫院">
            <a:extLst xmlns:a="http://schemas.openxmlformats.org/drawingml/2006/main">
              <a:ext uri="{FF2B5EF4-FFF2-40B4-BE49-F238E27FC236}">
                <a16:creationId xmlns:a16="http://schemas.microsoft.com/office/drawing/2014/main" id="{AFD7A4C2-CBD1-4A21-B0AE-AF9F3E8D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166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安泰醫院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578945B-B7B3-4466-93AB-7A8C4D08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65213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62" name="—">
            <a:extLst xmlns:a="http://schemas.openxmlformats.org/drawingml/2006/main">
              <a:ext uri="{FF2B5EF4-FFF2-40B4-BE49-F238E27FC236}">
                <a16:creationId xmlns:a16="http://schemas.microsoft.com/office/drawing/2014/main" id="{42DA6B0A-6397-4A61-893B-9E245C59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65213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6CEF6A0-6BB4-454A-8528-5693B505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65213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64" name="—">
            <a:extLst xmlns:a="http://schemas.openxmlformats.org/drawingml/2006/main">
              <a:ext uri="{FF2B5EF4-FFF2-40B4-BE49-F238E27FC236}">
                <a16:creationId xmlns:a16="http://schemas.microsoft.com/office/drawing/2014/main" id="{1ED368A4-C8EC-45E5-87B0-8A2FA90E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65213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6A059A2-DE89-43B7-A306-EEEC5909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65213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66" name="—">
            <a:extLst xmlns:a="http://schemas.openxmlformats.org/drawingml/2006/main">
              <a:ext uri="{FF2B5EF4-FFF2-40B4-BE49-F238E27FC236}">
                <a16:creationId xmlns:a16="http://schemas.microsoft.com/office/drawing/2014/main" id="{F248C782-1C3D-48B0-909C-019E37A0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65213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3815F6F-F025-45E9-961B-77DBEE67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65213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68" name="—">
            <a:extLst xmlns:a="http://schemas.openxmlformats.org/drawingml/2006/main">
              <a:ext uri="{FF2B5EF4-FFF2-40B4-BE49-F238E27FC236}">
                <a16:creationId xmlns:a16="http://schemas.microsoft.com/office/drawing/2014/main" id="{AA544B94-7C2B-4F4B-B3E5-3D454C72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65213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ACF75CB-3254-4555-AC7C-622EC39A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65213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</a:ln>
        </p:spPr>
      </p:sp>
      <p:sp>
        <p:nvSpPr>
          <p:cNvPr id="170" name="0">
            <a:extLst xmlns:a="http://schemas.openxmlformats.org/drawingml/2006/main">
              <a:ext uri="{FF2B5EF4-FFF2-40B4-BE49-F238E27FC236}">
                <a16:creationId xmlns:a16="http://schemas.microsoft.com/office/drawing/2014/main" id="{DDB4EBB5-647D-4AAB-8E44-9A3AA581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65213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171" name="屏東基督教">
            <a:extLst xmlns:a="http://schemas.openxmlformats.org/drawingml/2006/main">
              <a:ext uri="{FF2B5EF4-FFF2-40B4-BE49-F238E27FC236}">
                <a16:creationId xmlns:a16="http://schemas.microsoft.com/office/drawing/2014/main" id="{163BF5AA-870E-4F3D-8A78-AC656881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屏東基督教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7EA0828-0389-4486-9EF7-4344227D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91502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73" name="—">
            <a:extLst xmlns:a="http://schemas.openxmlformats.org/drawingml/2006/main">
              <a:ext uri="{FF2B5EF4-FFF2-40B4-BE49-F238E27FC236}">
                <a16:creationId xmlns:a16="http://schemas.microsoft.com/office/drawing/2014/main" id="{B9A08307-4C96-44C7-8404-8E7F07E7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915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30F3F37-F598-4E77-AB79-9A57DBD2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91502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75" name="—">
            <a:extLst xmlns:a="http://schemas.openxmlformats.org/drawingml/2006/main">
              <a:ext uri="{FF2B5EF4-FFF2-40B4-BE49-F238E27FC236}">
                <a16:creationId xmlns:a16="http://schemas.microsoft.com/office/drawing/2014/main" id="{7A90189D-31C0-42C2-8E0C-6C1AA349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915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66BE59F-7715-4E6B-AA5E-63C55B76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91502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77" name="—">
            <a:extLst xmlns:a="http://schemas.openxmlformats.org/drawingml/2006/main">
              <a:ext uri="{FF2B5EF4-FFF2-40B4-BE49-F238E27FC236}">
                <a16:creationId xmlns:a16="http://schemas.microsoft.com/office/drawing/2014/main" id="{3463C5B0-599C-4808-93CB-81C4A797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915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1A06E9D-160B-4D13-A69F-DFD72F84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91502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79" name="—">
            <a:extLst xmlns:a="http://schemas.openxmlformats.org/drawingml/2006/main">
              <a:ext uri="{FF2B5EF4-FFF2-40B4-BE49-F238E27FC236}">
                <a16:creationId xmlns:a16="http://schemas.microsoft.com/office/drawing/2014/main" id="{13F51735-8A8C-4F2F-9C20-9B3D0D0B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915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69E3603-5032-43C0-98CC-4A8971AB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91502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D7"/>
          </a:solidFill>
          <a:ln xmlns:a="http://schemas.openxmlformats.org/drawingml/2006/main" w="0">
            <a:noFill/>
          </a:ln>
        </p:spPr>
      </p:sp>
      <p:sp>
        <p:nvSpPr>
          <p:cNvPr id="181" name="55">
            <a:extLst xmlns:a="http://schemas.openxmlformats.org/drawingml/2006/main">
              <a:ext uri="{FF2B5EF4-FFF2-40B4-BE49-F238E27FC236}">
                <a16:creationId xmlns:a16="http://schemas.microsoft.com/office/drawing/2014/main" id="{6B05E084-E68C-4D9D-A766-6AE75B98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915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55</a:t>
            </a:r>
          </a:p>
        </p:txBody>
      </p:sp>
      <p:sp>
        <p:nvSpPr>
          <p:cNvPr id="182" name="澎湖醫院">
            <a:extLst xmlns:a="http://schemas.openxmlformats.org/drawingml/2006/main">
              <a:ext uri="{FF2B5EF4-FFF2-40B4-BE49-F238E27FC236}">
                <a16:creationId xmlns:a16="http://schemas.microsoft.com/office/drawing/2014/main" id="{BC8D27A8-8437-43A0-BDF6-FED55570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09825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澎湖醫院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1A1554F-5767-40D3-BDA9-FB8F08E7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4003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8B"/>
          </a:solidFill>
          <a:ln xmlns:a="http://schemas.openxmlformats.org/drawingml/2006/main" w="0">
            <a:noFill/>
          </a:ln>
        </p:spPr>
      </p:sp>
      <p:sp>
        <p:nvSpPr>
          <p:cNvPr id="184" name="455">
            <a:extLst xmlns:a="http://schemas.openxmlformats.org/drawingml/2006/main">
              <a:ext uri="{FF2B5EF4-FFF2-40B4-BE49-F238E27FC236}">
                <a16:creationId xmlns:a16="http://schemas.microsoft.com/office/drawing/2014/main" id="{FC50D85C-5D45-4615-BDB3-7E2AD8EC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4384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455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4157AFB-9FAA-43A3-9B94-C17D5848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D7"/>
          </a:solidFill>
          <a:ln xmlns:a="http://schemas.openxmlformats.org/drawingml/2006/main" w="0">
            <a:noFill/>
          </a:ln>
        </p:spPr>
      </p:sp>
      <p:sp>
        <p:nvSpPr>
          <p:cNvPr id="186" name="96">
            <a:extLst xmlns:a="http://schemas.openxmlformats.org/drawingml/2006/main">
              <a:ext uri="{FF2B5EF4-FFF2-40B4-BE49-F238E27FC236}">
                <a16:creationId xmlns:a16="http://schemas.microsoft.com/office/drawing/2014/main" id="{1781FE58-60A3-407E-B279-EAAF480D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384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96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3F3E54E-0CC5-47D1-8D75-64299AB0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4003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88" name="—">
            <a:extLst xmlns:a="http://schemas.openxmlformats.org/drawingml/2006/main">
              <a:ext uri="{FF2B5EF4-FFF2-40B4-BE49-F238E27FC236}">
                <a16:creationId xmlns:a16="http://schemas.microsoft.com/office/drawing/2014/main" id="{E1EEF04F-98F4-48EA-B666-34458C57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4384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3E6E33A-C35A-449B-9B3D-F16DE75F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003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90" name="—">
            <a:extLst xmlns:a="http://schemas.openxmlformats.org/drawingml/2006/main">
              <a:ext uri="{FF2B5EF4-FFF2-40B4-BE49-F238E27FC236}">
                <a16:creationId xmlns:a16="http://schemas.microsoft.com/office/drawing/2014/main" id="{5FC3C237-18B7-4648-8667-4F3AE2DE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384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E4AB220-896C-419B-BEB4-79B41D59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003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192" name="31">
            <a:extLst xmlns:a="http://schemas.openxmlformats.org/drawingml/2006/main">
              <a:ext uri="{FF2B5EF4-FFF2-40B4-BE49-F238E27FC236}">
                <a16:creationId xmlns:a16="http://schemas.microsoft.com/office/drawing/2014/main" id="{89A42030-CCEA-49A4-9357-FF1408C7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384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31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706A4F5-40C6-4F17-A028-4F615FE9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4003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94" name="—">
            <a:extLst xmlns:a="http://schemas.openxmlformats.org/drawingml/2006/main">
              <a:ext uri="{FF2B5EF4-FFF2-40B4-BE49-F238E27FC236}">
                <a16:creationId xmlns:a16="http://schemas.microsoft.com/office/drawing/2014/main" id="{B6852630-2C09-4743-A0B2-70643BC5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4384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FD613E5-AD76-426E-8C66-9843301E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4003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96" name="—">
            <a:extLst xmlns:a="http://schemas.openxmlformats.org/drawingml/2006/main">
              <a:ext uri="{FF2B5EF4-FFF2-40B4-BE49-F238E27FC236}">
                <a16:creationId xmlns:a16="http://schemas.microsoft.com/office/drawing/2014/main" id="{A9151A66-46FB-42D8-AAAC-AAB2BC44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4384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72F432C8-32A7-455B-AA29-E5962FD0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4003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198" name="—">
            <a:extLst xmlns:a="http://schemas.openxmlformats.org/drawingml/2006/main">
              <a:ext uri="{FF2B5EF4-FFF2-40B4-BE49-F238E27FC236}">
                <a16:creationId xmlns:a16="http://schemas.microsoft.com/office/drawing/2014/main" id="{D446299E-2B1D-4325-B3BB-1E91BB4A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4384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0E68214A-9996-433B-BBF7-15B046A4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24003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00" name="—">
            <a:extLst xmlns:a="http://schemas.openxmlformats.org/drawingml/2006/main">
              <a:ext uri="{FF2B5EF4-FFF2-40B4-BE49-F238E27FC236}">
                <a16:creationId xmlns:a16="http://schemas.microsoft.com/office/drawing/2014/main" id="{2F561E49-EBFF-4E76-A3A1-D69A4265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24384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01" name="西嶼衛生所">
            <a:extLst xmlns:a="http://schemas.openxmlformats.org/drawingml/2006/main">
              <a:ext uri="{FF2B5EF4-FFF2-40B4-BE49-F238E27FC236}">
                <a16:creationId xmlns:a16="http://schemas.microsoft.com/office/drawing/2014/main" id="{E4105441-808E-4A34-9E65-EB858D0F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4226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西嶼衛生所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4027737-39C6-44BA-84C6-08723E74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83273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</a:ln>
        </p:spPr>
      </p:sp>
      <p:sp>
        <p:nvSpPr>
          <p:cNvPr id="203" name="0">
            <a:extLst xmlns:a="http://schemas.openxmlformats.org/drawingml/2006/main">
              <a:ext uri="{FF2B5EF4-FFF2-40B4-BE49-F238E27FC236}">
                <a16:creationId xmlns:a16="http://schemas.microsoft.com/office/drawing/2014/main" id="{77EDDFCD-32E9-4ED0-BD61-05808A13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87083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52C6CD3-E0B2-4A50-8A98-12146F9A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3273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</a:ln>
        </p:spPr>
      </p:sp>
      <p:sp>
        <p:nvSpPr>
          <p:cNvPr id="205" name="0">
            <a:extLst xmlns:a="http://schemas.openxmlformats.org/drawingml/2006/main">
              <a:ext uri="{FF2B5EF4-FFF2-40B4-BE49-F238E27FC236}">
                <a16:creationId xmlns:a16="http://schemas.microsoft.com/office/drawing/2014/main" id="{0BD6282E-CD25-48DE-8B01-DC04DA63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7083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B9670FDB-B29D-4C6A-90CF-0F4DB626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3273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07" name="—">
            <a:extLst xmlns:a="http://schemas.openxmlformats.org/drawingml/2006/main">
              <a:ext uri="{FF2B5EF4-FFF2-40B4-BE49-F238E27FC236}">
                <a16:creationId xmlns:a16="http://schemas.microsoft.com/office/drawing/2014/main" id="{4CC5DEB5-791F-44E8-88AC-71B778ED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7083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9891771D-3599-4217-B0CD-F1B6AF55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3273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09" name="—">
            <a:extLst xmlns:a="http://schemas.openxmlformats.org/drawingml/2006/main">
              <a:ext uri="{FF2B5EF4-FFF2-40B4-BE49-F238E27FC236}">
                <a16:creationId xmlns:a16="http://schemas.microsoft.com/office/drawing/2014/main" id="{0C5CA788-AB60-42C1-BD0C-C8BA02FA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083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601166A7-DFFC-4355-97A4-A1999962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83273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11" name="—">
            <a:extLst xmlns:a="http://schemas.openxmlformats.org/drawingml/2006/main">
              <a:ext uri="{FF2B5EF4-FFF2-40B4-BE49-F238E27FC236}">
                <a16:creationId xmlns:a16="http://schemas.microsoft.com/office/drawing/2014/main" id="{869F4931-E25F-4657-8A8E-505BE7D4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87083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82C87E91-F5D3-424E-B872-EC7C4F8C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83273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13" name="—">
            <a:extLst xmlns:a="http://schemas.openxmlformats.org/drawingml/2006/main">
              <a:ext uri="{FF2B5EF4-FFF2-40B4-BE49-F238E27FC236}">
                <a16:creationId xmlns:a16="http://schemas.microsoft.com/office/drawing/2014/main" id="{CBE2DE33-EE9B-4BF4-9A79-2F332B1D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87083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246D58A-B4AF-48F9-BA9F-0B9F1838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3273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15" name="—">
            <a:extLst xmlns:a="http://schemas.openxmlformats.org/drawingml/2006/main">
              <a:ext uri="{FF2B5EF4-FFF2-40B4-BE49-F238E27FC236}">
                <a16:creationId xmlns:a16="http://schemas.microsoft.com/office/drawing/2014/main" id="{EB87E15F-C1D9-4230-AEAA-69603641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7083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EF8C1A88-ED22-4989-BA26-8F0D4DD1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83273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17" name="—">
            <a:extLst xmlns:a="http://schemas.openxmlformats.org/drawingml/2006/main">
              <a:ext uri="{FF2B5EF4-FFF2-40B4-BE49-F238E27FC236}">
                <a16:creationId xmlns:a16="http://schemas.microsoft.com/office/drawing/2014/main" id="{9871F2A5-4506-46AC-87CE-64A78FB7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87083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45FFDD7-CB78-4EB3-A6E6-6DDD502A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283273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19" name="—">
            <a:extLst xmlns:a="http://schemas.openxmlformats.org/drawingml/2006/main">
              <a:ext uri="{FF2B5EF4-FFF2-40B4-BE49-F238E27FC236}">
                <a16:creationId xmlns:a16="http://schemas.microsoft.com/office/drawing/2014/main" id="{F08432BD-8227-44C8-8E1A-B63DC7A4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287083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20" name="將軍衛生所">
            <a:extLst xmlns:a="http://schemas.openxmlformats.org/drawingml/2006/main">
              <a:ext uri="{FF2B5EF4-FFF2-40B4-BE49-F238E27FC236}">
                <a16:creationId xmlns:a16="http://schemas.microsoft.com/office/drawing/2014/main" id="{94116422-020C-4907-B8AF-DF99D7B9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74695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將軍衛生所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8922DC0-709A-43CE-B25E-4040905E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6517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</a:ln>
        </p:spPr>
      </p:sp>
      <p:sp>
        <p:nvSpPr>
          <p:cNvPr id="222" name="0">
            <a:extLst xmlns:a="http://schemas.openxmlformats.org/drawingml/2006/main">
              <a:ext uri="{FF2B5EF4-FFF2-40B4-BE49-F238E27FC236}">
                <a16:creationId xmlns:a16="http://schemas.microsoft.com/office/drawing/2014/main" id="{40A50D82-1E05-4AD9-90C9-A588C87B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0327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E2F4D501-C824-4B08-BA08-76EA31D3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6517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</a:ln>
        </p:spPr>
      </p:sp>
      <p:sp>
        <p:nvSpPr>
          <p:cNvPr id="224" name="0">
            <a:extLst xmlns:a="http://schemas.openxmlformats.org/drawingml/2006/main">
              <a:ext uri="{FF2B5EF4-FFF2-40B4-BE49-F238E27FC236}">
                <a16:creationId xmlns:a16="http://schemas.microsoft.com/office/drawing/2014/main" id="{21B4A6E7-DB49-4A09-925A-DDA7CD10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0327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3B21805-7C45-4D57-B611-99117AC3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6517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26" name="—">
            <a:extLst xmlns:a="http://schemas.openxmlformats.org/drawingml/2006/main">
              <a:ext uri="{FF2B5EF4-FFF2-40B4-BE49-F238E27FC236}">
                <a16:creationId xmlns:a16="http://schemas.microsoft.com/office/drawing/2014/main" id="{FA134607-15FA-43A3-9572-8B844D83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30327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B2B1590-F968-48E4-B3B4-6FB7F2EB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6517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</a:ln>
        </p:spPr>
      </p:sp>
      <p:sp>
        <p:nvSpPr>
          <p:cNvPr id="228" name="0">
            <a:extLst xmlns:a="http://schemas.openxmlformats.org/drawingml/2006/main">
              <a:ext uri="{FF2B5EF4-FFF2-40B4-BE49-F238E27FC236}">
                <a16:creationId xmlns:a16="http://schemas.microsoft.com/office/drawing/2014/main" id="{9ED11959-E5C9-4F17-8791-B9DE1A17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30327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3DD5A355-C281-423C-AE9F-B63E3C54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26517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30" name="—">
            <a:extLst xmlns:a="http://schemas.openxmlformats.org/drawingml/2006/main">
              <a:ext uri="{FF2B5EF4-FFF2-40B4-BE49-F238E27FC236}">
                <a16:creationId xmlns:a16="http://schemas.microsoft.com/office/drawing/2014/main" id="{2CFD70C6-8E44-4F11-B184-A3123CB0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30327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8E068CC-8AC1-4762-87A2-089DC04A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26517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32" name="—">
            <a:extLst xmlns:a="http://schemas.openxmlformats.org/drawingml/2006/main">
              <a:ext uri="{FF2B5EF4-FFF2-40B4-BE49-F238E27FC236}">
                <a16:creationId xmlns:a16="http://schemas.microsoft.com/office/drawing/2014/main" id="{C844D750-C04D-412A-8406-F308C75C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30327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DAD6547E-86FA-4151-B330-69B5ECB1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26517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34" name="—">
            <a:extLst xmlns:a="http://schemas.openxmlformats.org/drawingml/2006/main">
              <a:ext uri="{FF2B5EF4-FFF2-40B4-BE49-F238E27FC236}">
                <a16:creationId xmlns:a16="http://schemas.microsoft.com/office/drawing/2014/main" id="{D35E21B7-BA49-4DC9-A460-34DFC9C3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30327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4FF7BDDA-E4F3-486C-8BF5-B203CAD1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26517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36" name="—">
            <a:extLst xmlns:a="http://schemas.openxmlformats.org/drawingml/2006/main">
              <a:ext uri="{FF2B5EF4-FFF2-40B4-BE49-F238E27FC236}">
                <a16:creationId xmlns:a16="http://schemas.microsoft.com/office/drawing/2014/main" id="{A82D2ABD-ED35-4E2B-A7E1-F0010DEC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0327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BDDE3C1-4B5F-4553-8785-DBBBEF32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326517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38" name="—">
            <a:extLst xmlns:a="http://schemas.openxmlformats.org/drawingml/2006/main">
              <a:ext uri="{FF2B5EF4-FFF2-40B4-BE49-F238E27FC236}">
                <a16:creationId xmlns:a16="http://schemas.microsoft.com/office/drawing/2014/main" id="{06E8F4BF-DB2B-406A-9C11-0BE2B50D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330327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39" name="三總澎湖／澎監">
            <a:extLst xmlns:a="http://schemas.openxmlformats.org/drawingml/2006/main">
              <a:ext uri="{FF2B5EF4-FFF2-40B4-BE49-F238E27FC236}">
                <a16:creationId xmlns:a16="http://schemas.microsoft.com/office/drawing/2014/main" id="{EB82ECB1-663A-42C5-91B0-CB331159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0713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三總澎湖／澎監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9B1AEF82-7DEA-4274-86A9-FB039613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69760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241" name="11">
            <a:extLst xmlns:a="http://schemas.openxmlformats.org/drawingml/2006/main">
              <a:ext uri="{FF2B5EF4-FFF2-40B4-BE49-F238E27FC236}">
                <a16:creationId xmlns:a16="http://schemas.microsoft.com/office/drawing/2014/main" id="{6DB61124-6760-4057-8041-7EBCAF93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73570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063CFC6-FE8C-45E4-A301-05094E05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9760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43" name="—">
            <a:extLst xmlns:a="http://schemas.openxmlformats.org/drawingml/2006/main">
              <a:ext uri="{FF2B5EF4-FFF2-40B4-BE49-F238E27FC236}">
                <a16:creationId xmlns:a16="http://schemas.microsoft.com/office/drawing/2014/main" id="{A3EB4848-91D9-421B-98FC-8CF02BF8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3570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D6AA0B0E-0857-460F-A3AF-D5A66C0B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69760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45" name="—">
            <a:extLst xmlns:a="http://schemas.openxmlformats.org/drawingml/2006/main">
              <a:ext uri="{FF2B5EF4-FFF2-40B4-BE49-F238E27FC236}">
                <a16:creationId xmlns:a16="http://schemas.microsoft.com/office/drawing/2014/main" id="{191BB556-E92E-4690-84A3-71039F5C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73570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BC79F865-BD82-4278-90C8-3CE89FB6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69760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47" name="—">
            <a:extLst xmlns:a="http://schemas.openxmlformats.org/drawingml/2006/main">
              <a:ext uri="{FF2B5EF4-FFF2-40B4-BE49-F238E27FC236}">
                <a16:creationId xmlns:a16="http://schemas.microsoft.com/office/drawing/2014/main" id="{F4CAD65E-73B4-482B-A372-5149D90B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73570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4C712FD8-D53A-44DF-9970-59407BA5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69760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49" name="—">
            <a:extLst xmlns:a="http://schemas.openxmlformats.org/drawingml/2006/main">
              <a:ext uri="{FF2B5EF4-FFF2-40B4-BE49-F238E27FC236}">
                <a16:creationId xmlns:a16="http://schemas.microsoft.com/office/drawing/2014/main" id="{F7BE7877-D2C7-4772-9317-BC6CEC4B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73570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CF0C82CC-C272-4514-B9AE-B107429F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69760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51" name="—">
            <a:extLst xmlns:a="http://schemas.openxmlformats.org/drawingml/2006/main">
              <a:ext uri="{FF2B5EF4-FFF2-40B4-BE49-F238E27FC236}">
                <a16:creationId xmlns:a16="http://schemas.microsoft.com/office/drawing/2014/main" id="{7CE2E6BE-76AC-4337-AD90-9DEF1D0F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73570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6565F9C7-6438-4D77-92CF-6C0BBD48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69760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53" name="—">
            <a:extLst xmlns:a="http://schemas.openxmlformats.org/drawingml/2006/main">
              <a:ext uri="{FF2B5EF4-FFF2-40B4-BE49-F238E27FC236}">
                <a16:creationId xmlns:a16="http://schemas.microsoft.com/office/drawing/2014/main" id="{B28CEC5E-A73B-41AC-9AFE-175121DD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73570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20419091-4ABC-4883-A230-474214FB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69760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55" name="—">
            <a:extLst xmlns:a="http://schemas.openxmlformats.org/drawingml/2006/main">
              <a:ext uri="{FF2B5EF4-FFF2-40B4-BE49-F238E27FC236}">
                <a16:creationId xmlns:a16="http://schemas.microsoft.com/office/drawing/2014/main" id="{E7C46263-B289-40CD-A623-51DC1E34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73570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34E4C27E-E6DE-410E-A8CE-A80996F3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369760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57" name="—">
            <a:extLst xmlns:a="http://schemas.openxmlformats.org/drawingml/2006/main">
              <a:ext uri="{FF2B5EF4-FFF2-40B4-BE49-F238E27FC236}">
                <a16:creationId xmlns:a16="http://schemas.microsoft.com/office/drawing/2014/main" id="{0F64E451-6B6C-48EF-8249-44F1E0AA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373570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58" name="豐濱原住民分院">
            <a:extLst xmlns:a="http://schemas.openxmlformats.org/drawingml/2006/main">
              <a:ext uri="{FF2B5EF4-FFF2-40B4-BE49-F238E27FC236}">
                <a16:creationId xmlns:a16="http://schemas.microsoft.com/office/drawing/2014/main" id="{9D359DB3-D35B-4491-8928-AC84BBF0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39565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豐濱原住民分院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05DED08A-BE22-4373-BD93-42D3EE1E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13004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D7"/>
          </a:solidFill>
          <a:ln xmlns:a="http://schemas.openxmlformats.org/drawingml/2006/main" w="0">
            <a:noFill/>
          </a:ln>
        </p:spPr>
      </p:sp>
      <p:sp>
        <p:nvSpPr>
          <p:cNvPr id="260" name="93">
            <a:extLst xmlns:a="http://schemas.openxmlformats.org/drawingml/2006/main">
              <a:ext uri="{FF2B5EF4-FFF2-40B4-BE49-F238E27FC236}">
                <a16:creationId xmlns:a16="http://schemas.microsoft.com/office/drawing/2014/main" id="{F2C584DC-B00B-4C72-B922-322013AF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16814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93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BB35B84A-0BA7-46D3-822F-A4F9E851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3004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D7"/>
          </a:solidFill>
          <a:ln xmlns:a="http://schemas.openxmlformats.org/drawingml/2006/main" w="0">
            <a:noFill/>
          </a:ln>
        </p:spPr>
      </p:sp>
      <p:sp>
        <p:nvSpPr>
          <p:cNvPr id="262" name="115">
            <a:extLst xmlns:a="http://schemas.openxmlformats.org/drawingml/2006/main">
              <a:ext uri="{FF2B5EF4-FFF2-40B4-BE49-F238E27FC236}">
                <a16:creationId xmlns:a16="http://schemas.microsoft.com/office/drawing/2014/main" id="{7B1080CB-31E7-47C2-B3F1-8D3346C7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6814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115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2676527C-40E4-4532-AE4E-BAC9E110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13004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64" name="—">
            <a:extLst xmlns:a="http://schemas.openxmlformats.org/drawingml/2006/main">
              <a:ext uri="{FF2B5EF4-FFF2-40B4-BE49-F238E27FC236}">
                <a16:creationId xmlns:a16="http://schemas.microsoft.com/office/drawing/2014/main" id="{AAEEA714-02D2-4A7F-9052-8FEAC4B2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16814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4A6316EA-55A5-4E90-81FF-CFB2A8FD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13004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266" name="6">
            <a:extLst xmlns:a="http://schemas.openxmlformats.org/drawingml/2006/main">
              <a:ext uri="{FF2B5EF4-FFF2-40B4-BE49-F238E27FC236}">
                <a16:creationId xmlns:a16="http://schemas.microsoft.com/office/drawing/2014/main" id="{8D05134D-5C76-46A8-95BC-CE497EB0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16814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6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8FDE006-2CB6-4A68-B79C-2CBED440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13004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68" name="—">
            <a:extLst xmlns:a="http://schemas.openxmlformats.org/drawingml/2006/main">
              <a:ext uri="{FF2B5EF4-FFF2-40B4-BE49-F238E27FC236}">
                <a16:creationId xmlns:a16="http://schemas.microsoft.com/office/drawing/2014/main" id="{04B8809A-3972-4271-9E90-C05F8211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16814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F04E3683-8A97-4DCB-8ABD-3C97033A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3004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70" name="—">
            <a:extLst xmlns:a="http://schemas.openxmlformats.org/drawingml/2006/main">
              <a:ext uri="{FF2B5EF4-FFF2-40B4-BE49-F238E27FC236}">
                <a16:creationId xmlns:a16="http://schemas.microsoft.com/office/drawing/2014/main" id="{F817081D-6439-48BE-8134-D2E47716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6814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64523E97-5933-450F-9161-37AF1E95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13004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72" name="—">
            <a:extLst xmlns:a="http://schemas.openxmlformats.org/drawingml/2006/main">
              <a:ext uri="{FF2B5EF4-FFF2-40B4-BE49-F238E27FC236}">
                <a16:creationId xmlns:a16="http://schemas.microsoft.com/office/drawing/2014/main" id="{E5D92663-FD23-4AC1-9A8D-34E4C9BE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16814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B2D4D70A-B506-4D8A-AEE5-7FEB1DB9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13004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74" name="—">
            <a:extLst xmlns:a="http://schemas.openxmlformats.org/drawingml/2006/main">
              <a:ext uri="{FF2B5EF4-FFF2-40B4-BE49-F238E27FC236}">
                <a16:creationId xmlns:a16="http://schemas.microsoft.com/office/drawing/2014/main" id="{FC3DFF4F-82B4-4711-B886-E77AD007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16814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C6C5986F-9849-4AFD-AA43-FFD830C9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413004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76" name="—">
            <a:extLst xmlns:a="http://schemas.openxmlformats.org/drawingml/2006/main">
              <a:ext uri="{FF2B5EF4-FFF2-40B4-BE49-F238E27FC236}">
                <a16:creationId xmlns:a16="http://schemas.microsoft.com/office/drawing/2014/main" id="{9516CE56-D3A0-4E93-BF3F-06A755DE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416814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77" name="玉里醫院">
            <a:extLst xmlns:a="http://schemas.openxmlformats.org/drawingml/2006/main">
              <a:ext uri="{FF2B5EF4-FFF2-40B4-BE49-F238E27FC236}">
                <a16:creationId xmlns:a16="http://schemas.microsoft.com/office/drawing/2014/main" id="{3D383B25-55CA-4C2D-A1FE-B3292A0E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57200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玉里醫院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38B81CC6-022F-4F5E-853F-4265DD67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6247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8B"/>
          </a:solidFill>
          <a:ln xmlns:a="http://schemas.openxmlformats.org/drawingml/2006/main" w="0">
            <a:noFill/>
          </a:ln>
        </p:spPr>
      </p:sp>
      <p:sp>
        <p:nvSpPr>
          <p:cNvPr id="279" name="528">
            <a:extLst xmlns:a="http://schemas.openxmlformats.org/drawingml/2006/main">
              <a:ext uri="{FF2B5EF4-FFF2-40B4-BE49-F238E27FC236}">
                <a16:creationId xmlns:a16="http://schemas.microsoft.com/office/drawing/2014/main" id="{55805A76-5516-4AE0-8BEF-D7D2BFD7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005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528</a:t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9D317AC5-9810-462E-834F-EB807BB7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6247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8B"/>
          </a:solidFill>
          <a:ln xmlns:a="http://schemas.openxmlformats.org/drawingml/2006/main" w="0">
            <a:noFill/>
          </a:ln>
        </p:spPr>
      </p:sp>
      <p:sp>
        <p:nvSpPr>
          <p:cNvPr id="281" name="323">
            <a:extLst xmlns:a="http://schemas.openxmlformats.org/drawingml/2006/main">
              <a:ext uri="{FF2B5EF4-FFF2-40B4-BE49-F238E27FC236}">
                <a16:creationId xmlns:a16="http://schemas.microsoft.com/office/drawing/2014/main" id="{33F4FF1B-3C41-4269-852F-EA9A927D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005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323</a:t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E80C3CC-FEF6-485C-814C-4501C9D7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56247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8B"/>
          </a:solidFill>
          <a:ln xmlns:a="http://schemas.openxmlformats.org/drawingml/2006/main" w="0">
            <a:noFill/>
          </a:ln>
        </p:spPr>
      </p:sp>
      <p:sp>
        <p:nvSpPr>
          <p:cNvPr id="283" name="361">
            <a:extLst xmlns:a="http://schemas.openxmlformats.org/drawingml/2006/main">
              <a:ext uri="{FF2B5EF4-FFF2-40B4-BE49-F238E27FC236}">
                <a16:creationId xmlns:a16="http://schemas.microsoft.com/office/drawing/2014/main" id="{853564C1-D5DC-41D0-8917-B9C2704F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6005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361</a:t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000109CF-65DD-43B3-B281-A2B5CA9E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56247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85" name="—">
            <a:extLst xmlns:a="http://schemas.openxmlformats.org/drawingml/2006/main">
              <a:ext uri="{FF2B5EF4-FFF2-40B4-BE49-F238E27FC236}">
                <a16:creationId xmlns:a16="http://schemas.microsoft.com/office/drawing/2014/main" id="{6AD2B961-5328-40B8-B6DF-7EF01006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6005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71818855-72BA-4221-9C63-74956F12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56247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87" name="—">
            <a:extLst xmlns:a="http://schemas.openxmlformats.org/drawingml/2006/main">
              <a:ext uri="{FF2B5EF4-FFF2-40B4-BE49-F238E27FC236}">
                <a16:creationId xmlns:a16="http://schemas.microsoft.com/office/drawing/2014/main" id="{5372B374-2F03-469F-96E0-0B79C356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6005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E4497373-3690-45A0-9D3D-9396B44B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56247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89" name="—">
            <a:extLst xmlns:a="http://schemas.openxmlformats.org/drawingml/2006/main">
              <a:ext uri="{FF2B5EF4-FFF2-40B4-BE49-F238E27FC236}">
                <a16:creationId xmlns:a16="http://schemas.microsoft.com/office/drawing/2014/main" id="{B01F15D4-7C4A-4B61-9A0E-402E7BCD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6005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F6D41535-6222-4165-82C2-4FC795FF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56247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91" name="—">
            <a:extLst xmlns:a="http://schemas.openxmlformats.org/drawingml/2006/main">
              <a:ext uri="{FF2B5EF4-FFF2-40B4-BE49-F238E27FC236}">
                <a16:creationId xmlns:a16="http://schemas.microsoft.com/office/drawing/2014/main" id="{9C0B665B-2EDA-407E-B9EC-B141D9DB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6005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F37A8EF3-5F24-4CFC-BBF4-E9953FE6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56247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</a:ln>
        </p:spPr>
      </p:sp>
      <p:sp>
        <p:nvSpPr>
          <p:cNvPr id="293" name="0">
            <a:extLst xmlns:a="http://schemas.openxmlformats.org/drawingml/2006/main">
              <a:ext uri="{FF2B5EF4-FFF2-40B4-BE49-F238E27FC236}">
                <a16:creationId xmlns:a16="http://schemas.microsoft.com/office/drawing/2014/main" id="{86B5B835-BC2A-4765-8811-A6A37CDB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6005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865D30E3-0473-4518-85C5-34B1CE5E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456247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295" name="—">
            <a:extLst xmlns:a="http://schemas.openxmlformats.org/drawingml/2006/main">
              <a:ext uri="{FF2B5EF4-FFF2-40B4-BE49-F238E27FC236}">
                <a16:creationId xmlns:a16="http://schemas.microsoft.com/office/drawing/2014/main" id="{07049C9E-6AF2-4331-9EA2-6476D21B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46005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296" name="成功分院">
            <a:extLst xmlns:a="http://schemas.openxmlformats.org/drawingml/2006/main">
              <a:ext uri="{FF2B5EF4-FFF2-40B4-BE49-F238E27FC236}">
                <a16:creationId xmlns:a16="http://schemas.microsoft.com/office/drawing/2014/main" id="{D07ABD7C-C903-4956-B6B9-9E41716A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004435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成功分院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CCE181A3-C76C-4849-83FC-AC30D87C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99491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D7"/>
          </a:solidFill>
          <a:ln xmlns:a="http://schemas.openxmlformats.org/drawingml/2006/main" w="0">
            <a:noFill/>
          </a:ln>
        </p:spPr>
      </p:sp>
      <p:sp>
        <p:nvSpPr>
          <p:cNvPr id="298" name="87">
            <a:extLst xmlns:a="http://schemas.openxmlformats.org/drawingml/2006/main">
              <a:ext uri="{FF2B5EF4-FFF2-40B4-BE49-F238E27FC236}">
                <a16:creationId xmlns:a16="http://schemas.microsoft.com/office/drawing/2014/main" id="{AF50DFFB-6A94-449E-89A6-3ED38C72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03301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87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09DD84A8-1078-4A70-9BEC-259FB569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9491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D7"/>
          </a:solidFill>
          <a:ln xmlns:a="http://schemas.openxmlformats.org/drawingml/2006/main" w="0">
            <a:noFill/>
          </a:ln>
        </p:spPr>
      </p:sp>
      <p:sp>
        <p:nvSpPr>
          <p:cNvPr id="300" name="67">
            <a:extLst xmlns:a="http://schemas.openxmlformats.org/drawingml/2006/main">
              <a:ext uri="{FF2B5EF4-FFF2-40B4-BE49-F238E27FC236}">
                <a16:creationId xmlns:a16="http://schemas.microsoft.com/office/drawing/2014/main" id="{AF42B6B2-EFD1-4F9C-A823-74EA3943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3301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67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F92BA283-2823-4E52-9CFF-31F412EF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99491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302" name="—">
            <a:extLst xmlns:a="http://schemas.openxmlformats.org/drawingml/2006/main">
              <a:ext uri="{FF2B5EF4-FFF2-40B4-BE49-F238E27FC236}">
                <a16:creationId xmlns:a16="http://schemas.microsoft.com/office/drawing/2014/main" id="{AA15B3C4-4A8D-4D60-AD2B-A0DCE11E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03301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D4DB5BD7-D110-420F-8496-11C6DFE5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99491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</a:ln>
        </p:spPr>
      </p:sp>
      <p:sp>
        <p:nvSpPr>
          <p:cNvPr id="304" name="3">
            <a:extLst xmlns:a="http://schemas.openxmlformats.org/drawingml/2006/main">
              <a:ext uri="{FF2B5EF4-FFF2-40B4-BE49-F238E27FC236}">
                <a16:creationId xmlns:a16="http://schemas.microsoft.com/office/drawing/2014/main" id="{9E16F009-7CA2-4CA3-B7A4-AF17FBF5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03301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47E18BB5-DC57-434E-BBB3-77D5917B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99491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306" name="—">
            <a:extLst xmlns:a="http://schemas.openxmlformats.org/drawingml/2006/main">
              <a:ext uri="{FF2B5EF4-FFF2-40B4-BE49-F238E27FC236}">
                <a16:creationId xmlns:a16="http://schemas.microsoft.com/office/drawing/2014/main" id="{59CEB23C-B487-4EA5-A97E-4F962B04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03301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5820E7F-E57B-4F1A-8141-2D3E2453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99491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308" name="—">
            <a:extLst xmlns:a="http://schemas.openxmlformats.org/drawingml/2006/main">
              <a:ext uri="{FF2B5EF4-FFF2-40B4-BE49-F238E27FC236}">
                <a16:creationId xmlns:a16="http://schemas.microsoft.com/office/drawing/2014/main" id="{D56D6DA3-67E2-426A-A6FD-823FB7A4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03301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BA62871C-2E5F-4773-A7DF-4DB128DB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9491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</a:ln>
        </p:spPr>
      </p:sp>
      <p:sp>
        <p:nvSpPr>
          <p:cNvPr id="310" name="0">
            <a:extLst xmlns:a="http://schemas.openxmlformats.org/drawingml/2006/main">
              <a:ext uri="{FF2B5EF4-FFF2-40B4-BE49-F238E27FC236}">
                <a16:creationId xmlns:a16="http://schemas.microsoft.com/office/drawing/2014/main" id="{2E5A7C4E-4B92-479F-A9C0-C79E924E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03301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54FB9781-EDD7-4DD4-9F5E-FB226325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99491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0"/>
            </a:solidFill>
          </a:ln>
        </p:spPr>
      </p:sp>
      <p:sp>
        <p:nvSpPr>
          <p:cNvPr id="312" name="—">
            <a:extLst xmlns:a="http://schemas.openxmlformats.org/drawingml/2006/main">
              <a:ext uri="{FF2B5EF4-FFF2-40B4-BE49-F238E27FC236}">
                <a16:creationId xmlns:a16="http://schemas.microsoft.com/office/drawing/2014/main" id="{CE35FCEC-65B5-4B27-BF66-A054C659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03301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94A8AE"/>
                </a:solidFill>
                <a:latin typeface="Noto Sans CJK TC"/>
                <a:ea typeface="Noto Sans CJK TC"/>
                <a:cs typeface="Noto Sans CJK TC"/>
              </a:rPr>
              <a:t>—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198E0402-0934-4406-89F5-1941327B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499491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</a:ln>
        </p:spPr>
      </p:sp>
      <p:sp>
        <p:nvSpPr>
          <p:cNvPr id="314" name="0">
            <a:extLst xmlns:a="http://schemas.openxmlformats.org/drawingml/2006/main">
              <a:ext uri="{FF2B5EF4-FFF2-40B4-BE49-F238E27FC236}">
                <a16:creationId xmlns:a16="http://schemas.microsoft.com/office/drawing/2014/main" id="{B4D28920-F9E2-4D09-BCE3-2B1E3886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03301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315" name="皮膚">
            <a:extLst xmlns:a="http://schemas.openxmlformats.org/drawingml/2006/main">
              <a:ext uri="{FF2B5EF4-FFF2-40B4-BE49-F238E27FC236}">
                <a16:creationId xmlns:a16="http://schemas.microsoft.com/office/drawing/2014/main" id="{09B1E20B-911F-47E1-B7C0-AD4EC724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714500"/>
            <a:ext cx="657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皮膚</a:t>
            </a:r>
          </a:p>
        </p:txBody>
      </p:sp>
      <p:sp>
        <p:nvSpPr>
          <p:cNvPr id="316" name="眼科">
            <a:extLst xmlns:a="http://schemas.openxmlformats.org/drawingml/2006/main">
              <a:ext uri="{FF2B5EF4-FFF2-40B4-BE49-F238E27FC236}">
                <a16:creationId xmlns:a16="http://schemas.microsoft.com/office/drawing/2014/main" id="{62BBE332-C769-47FC-A14A-B1C447F0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714500"/>
            <a:ext cx="657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眼科</a:t>
            </a:r>
          </a:p>
        </p:txBody>
      </p:sp>
      <p:sp>
        <p:nvSpPr>
          <p:cNvPr id="317" name="耳鼻">
            <a:extLst xmlns:a="http://schemas.openxmlformats.org/drawingml/2006/main">
              <a:ext uri="{FF2B5EF4-FFF2-40B4-BE49-F238E27FC236}">
                <a16:creationId xmlns:a16="http://schemas.microsoft.com/office/drawing/2014/main" id="{3C6A4039-4D4A-4349-8BE0-532EC647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714500"/>
            <a:ext cx="657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耳鼻</a:t>
            </a:r>
          </a:p>
        </p:txBody>
      </p:sp>
      <p:sp>
        <p:nvSpPr>
          <p:cNvPr id="318" name="復健">
            <a:extLst xmlns:a="http://schemas.openxmlformats.org/drawingml/2006/main">
              <a:ext uri="{FF2B5EF4-FFF2-40B4-BE49-F238E27FC236}">
                <a16:creationId xmlns:a16="http://schemas.microsoft.com/office/drawing/2014/main" id="{DF151012-CA9D-41FA-AEA0-82D3E642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714500"/>
            <a:ext cx="657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復健</a:t>
            </a:r>
          </a:p>
        </p:txBody>
      </p:sp>
      <p:sp>
        <p:nvSpPr>
          <p:cNvPr id="319" name="急診">
            <a:extLst xmlns:a="http://schemas.openxmlformats.org/drawingml/2006/main">
              <a:ext uri="{FF2B5EF4-FFF2-40B4-BE49-F238E27FC236}">
                <a16:creationId xmlns:a16="http://schemas.microsoft.com/office/drawing/2014/main" id="{C256B621-6429-4C98-B5EF-30C462D8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714500"/>
            <a:ext cx="657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急診</a:t>
            </a:r>
          </a:p>
        </p:txBody>
      </p:sp>
      <p:sp>
        <p:nvSpPr>
          <p:cNvPr id="320" name="皮&#10;膚">
            <a:extLst xmlns:a="http://schemas.openxmlformats.org/drawingml/2006/main">
              <a:ext uri="{FF2B5EF4-FFF2-40B4-BE49-F238E27FC236}">
                <a16:creationId xmlns:a16="http://schemas.microsoft.com/office/drawing/2014/main" id="{68FA7FF6-B629-4B29-A2E2-52E14C30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09750"/>
            <a:ext cx="43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皮</a:t>
            </a:r>
          </a:p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膚</a:t>
            </a:r>
          </a:p>
        </p:txBody>
      </p:sp>
      <p:sp>
        <p:nvSpPr>
          <p:cNvPr id="321" name="眼&#10;科">
            <a:extLst xmlns:a="http://schemas.openxmlformats.org/drawingml/2006/main">
              <a:ext uri="{FF2B5EF4-FFF2-40B4-BE49-F238E27FC236}">
                <a16:creationId xmlns:a16="http://schemas.microsoft.com/office/drawing/2014/main" id="{C863DBEA-5C28-45EE-A05F-44BAAF33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09750"/>
            <a:ext cx="43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眼</a:t>
            </a:r>
          </a:p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科</a:t>
            </a:r>
          </a:p>
        </p:txBody>
      </p:sp>
      <p:sp>
        <p:nvSpPr>
          <p:cNvPr id="322" name="胃&#10;腸">
            <a:extLst xmlns:a="http://schemas.openxmlformats.org/drawingml/2006/main">
              <a:ext uri="{FF2B5EF4-FFF2-40B4-BE49-F238E27FC236}">
                <a16:creationId xmlns:a16="http://schemas.microsoft.com/office/drawing/2014/main" id="{C8358C86-C4A9-4ECA-81B4-528BA7DA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809750"/>
            <a:ext cx="43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胃</a:t>
            </a:r>
          </a:p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腸</a:t>
            </a:r>
          </a:p>
        </p:txBody>
      </p:sp>
      <p:sp>
        <p:nvSpPr>
          <p:cNvPr id="323" name="耳&#10;鼻">
            <a:extLst xmlns:a="http://schemas.openxmlformats.org/drawingml/2006/main">
              <a:ext uri="{FF2B5EF4-FFF2-40B4-BE49-F238E27FC236}">
                <a16:creationId xmlns:a16="http://schemas.microsoft.com/office/drawing/2014/main" id="{A9BB7591-365E-42FE-B895-A848AC39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9750"/>
            <a:ext cx="43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耳</a:t>
            </a:r>
          </a:p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鼻</a:t>
            </a:r>
          </a:p>
        </p:txBody>
      </p:sp>
      <p:sp>
        <p:nvSpPr>
          <p:cNvPr id="324" name="免&#10;疫">
            <a:extLst xmlns:a="http://schemas.openxmlformats.org/drawingml/2006/main">
              <a:ext uri="{FF2B5EF4-FFF2-40B4-BE49-F238E27FC236}">
                <a16:creationId xmlns:a16="http://schemas.microsoft.com/office/drawing/2014/main" id="{F3C32CF1-F1C2-44F5-9D7E-53C2C131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809750"/>
            <a:ext cx="43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免</a:t>
            </a:r>
          </a:p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疫</a:t>
            </a:r>
          </a:p>
        </p:txBody>
      </p:sp>
      <p:sp>
        <p:nvSpPr>
          <p:cNvPr id="325" name="復&#10;健">
            <a:extLst xmlns:a="http://schemas.openxmlformats.org/drawingml/2006/main">
              <a:ext uri="{FF2B5EF4-FFF2-40B4-BE49-F238E27FC236}">
                <a16:creationId xmlns:a16="http://schemas.microsoft.com/office/drawing/2014/main" id="{EDF6BA56-B30A-4EB2-8A46-5CA19E48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809750"/>
            <a:ext cx="43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復</a:t>
            </a:r>
          </a:p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健</a:t>
            </a:r>
          </a:p>
        </p:txBody>
      </p:sp>
      <p:sp>
        <p:nvSpPr>
          <p:cNvPr id="326" name="神&#10;內">
            <a:extLst xmlns:a="http://schemas.openxmlformats.org/drawingml/2006/main">
              <a:ext uri="{FF2B5EF4-FFF2-40B4-BE49-F238E27FC236}">
                <a16:creationId xmlns:a16="http://schemas.microsoft.com/office/drawing/2014/main" id="{677FE564-5FBE-4315-9FE5-86294864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1809750"/>
            <a:ext cx="43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神</a:t>
            </a:r>
          </a:p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內</a:t>
            </a:r>
          </a:p>
        </p:txBody>
      </p:sp>
      <p:sp>
        <p:nvSpPr>
          <p:cNvPr id="327" name="胸&#10;內">
            <a:extLst xmlns:a="http://schemas.openxmlformats.org/drawingml/2006/main">
              <a:ext uri="{FF2B5EF4-FFF2-40B4-BE49-F238E27FC236}">
                <a16:creationId xmlns:a16="http://schemas.microsoft.com/office/drawing/2014/main" id="{43A55296-6310-42F0-92CF-9739E903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1809750"/>
            <a:ext cx="43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胸</a:t>
            </a:r>
          </a:p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內</a:t>
            </a:r>
          </a:p>
        </p:txBody>
      </p:sp>
      <p:sp>
        <p:nvSpPr>
          <p:cNvPr id="328" name="急&#10;診">
            <a:extLst xmlns:a="http://schemas.openxmlformats.org/drawingml/2006/main">
              <a:ext uri="{FF2B5EF4-FFF2-40B4-BE49-F238E27FC236}">
                <a16:creationId xmlns:a16="http://schemas.microsoft.com/office/drawing/2014/main" id="{DC8505A3-3EBE-4C80-BAA6-2B4AC0C7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809750"/>
            <a:ext cx="43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急</a:t>
            </a:r>
          </a:p>
          <a:p xmlns:a="http://schemas.openxmlformats.org/drawingml/2006/main">
            <a:pPr algn="ctr">
              <a:def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診</a:t>
            </a:r>
          </a:p>
        </p:txBody>
      </p:sp>
      <p:sp>
        <p:nvSpPr>
          <p:cNvPr id="329" name="左區胃腸、免疫、神內、胸內均為缺資料（—）">
            <a:extLst xmlns:a="http://schemas.openxmlformats.org/drawingml/2006/main">
              <a:ext uri="{FF2B5EF4-FFF2-40B4-BE49-F238E27FC236}">
                <a16:creationId xmlns:a16="http://schemas.microsoft.com/office/drawing/2014/main" id="{BCCE29D2-19B0-4BCD-8380-4B0E8D53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581650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左區胃腸、免疫、神內、胸內均為缺資料（—）</a:t>
            </a:r>
          </a:p>
        </p:txBody>
      </p:sp>
      <p:sp>
        <p:nvSpPr>
          <p:cNvPr id="330" name="0為真實零值；未提供的院所科別不補0">
            <a:extLst xmlns:a="http://schemas.openxmlformats.org/drawingml/2006/main">
              <a:ext uri="{FF2B5EF4-FFF2-40B4-BE49-F238E27FC236}">
                <a16:creationId xmlns:a16="http://schemas.microsoft.com/office/drawing/2014/main" id="{68D5B697-9A01-4742-A250-58F821D7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915025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0為真實零值；未提供的院所科別不補0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9C93BADD-CCC5-456B-8E91-9EA4683F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2381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8"/>
            </a:solidFill>
          </a:ln>
        </p:spPr>
      </p:sp>
      <p:sp>
        <p:nvSpPr>
          <p:cNvPr id="332" name="— 缺資料">
            <a:extLst xmlns:a="http://schemas.openxmlformats.org/drawingml/2006/main">
              <a:ext uri="{FF2B5EF4-FFF2-40B4-BE49-F238E27FC236}">
                <a16:creationId xmlns:a16="http://schemas.microsoft.com/office/drawing/2014/main" id="{EF1E84B5-7526-4D37-B26F-3BE6F06D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248400"/>
            <a:ext cx="143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— 缺資料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25CD7C3B-5C8E-4A84-B1E6-835A4008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6267450"/>
            <a:ext cx="2381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DBE5E8"/>
            </a:solidFill>
          </a:ln>
        </p:spPr>
      </p:sp>
      <p:sp>
        <p:nvSpPr>
          <p:cNvPr id="334" name="0">
            <a:extLst xmlns:a="http://schemas.openxmlformats.org/drawingml/2006/main">
              <a:ext uri="{FF2B5EF4-FFF2-40B4-BE49-F238E27FC236}">
                <a16:creationId xmlns:a16="http://schemas.microsoft.com/office/drawing/2014/main" id="{F3DB8708-57FF-4C25-9FD2-97C08314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48400"/>
            <a:ext cx="143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0C970A09-28AF-4CF0-BDA5-019335AB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267450"/>
            <a:ext cx="2381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9525">
            <a:solidFill>
              <a:srgbClr val="DBE5E8"/>
            </a:solidFill>
          </a:ln>
        </p:spPr>
      </p:sp>
      <p:sp>
        <p:nvSpPr>
          <p:cNvPr id="336" name="1–50">
            <a:extLst xmlns:a="http://schemas.openxmlformats.org/drawingml/2006/main">
              <a:ext uri="{FF2B5EF4-FFF2-40B4-BE49-F238E27FC236}">
                <a16:creationId xmlns:a16="http://schemas.microsoft.com/office/drawing/2014/main" id="{F1F806F9-B5AB-4777-B0B3-4E0E3B56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248400"/>
            <a:ext cx="143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1–50</a:t>
            </a:r>
          </a:p>
        </p:txBody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7B50C048-A95B-4E2B-9DCF-21861934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6267450"/>
            <a:ext cx="2381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D7"/>
          </a:solidFill>
          <a:ln xmlns:a="http://schemas.openxmlformats.org/drawingml/2006/main" w="9525">
            <a:solidFill>
              <a:srgbClr val="DBE5E8"/>
            </a:solidFill>
          </a:ln>
        </p:spPr>
      </p:sp>
      <p:sp>
        <p:nvSpPr>
          <p:cNvPr id="338" name="51–150">
            <a:extLst xmlns:a="http://schemas.openxmlformats.org/drawingml/2006/main">
              <a:ext uri="{FF2B5EF4-FFF2-40B4-BE49-F238E27FC236}">
                <a16:creationId xmlns:a16="http://schemas.microsoft.com/office/drawing/2014/main" id="{9D24F9EA-7DC2-4519-AD07-119D5E8F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248400"/>
            <a:ext cx="143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51–150</a:t>
            </a: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CA222F66-46A6-4EBF-AFA4-1C76991C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267450"/>
            <a:ext cx="2381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B5AE"/>
          </a:solidFill>
          <a:ln xmlns:a="http://schemas.openxmlformats.org/drawingml/2006/main" w="9525">
            <a:solidFill>
              <a:srgbClr val="DBE5E8"/>
            </a:solidFill>
          </a:ln>
        </p:spPr>
      </p:sp>
      <p:sp>
        <p:nvSpPr>
          <p:cNvPr id="340" name="151–300">
            <a:extLst xmlns:a="http://schemas.openxmlformats.org/drawingml/2006/main">
              <a:ext uri="{FF2B5EF4-FFF2-40B4-BE49-F238E27FC236}">
                <a16:creationId xmlns:a16="http://schemas.microsoft.com/office/drawing/2014/main" id="{7DB0DCF4-6026-476E-BAFF-4D787243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248400"/>
            <a:ext cx="143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151–300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DF61D714-F8A0-4A7A-8281-FFE36C84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6267450"/>
            <a:ext cx="2381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8B"/>
          </a:solidFill>
          <a:ln xmlns:a="http://schemas.openxmlformats.org/drawingml/2006/main" w="9525">
            <a:solidFill>
              <a:srgbClr val="DBE5E8"/>
            </a:solidFill>
          </a:ln>
        </p:spPr>
      </p:sp>
      <p:sp>
        <p:nvSpPr>
          <p:cNvPr id="342" name="301–600">
            <a:extLst xmlns:a="http://schemas.openxmlformats.org/drawingml/2006/main">
              <a:ext uri="{FF2B5EF4-FFF2-40B4-BE49-F238E27FC236}">
                <a16:creationId xmlns:a16="http://schemas.microsoft.com/office/drawing/2014/main" id="{354CFBDE-3D14-4D8D-8424-0AE93886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248400"/>
            <a:ext cx="143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301–600</a:t>
            </a:r>
          </a:p>
        </p:txBody>
      </p:sp>
      <p:sp>
        <p:nvSpPr>
          <p:cNvPr id="343" name="高雄長庚紀念醫院　遠距醫療服務成果">
            <a:extLst xmlns:a="http://schemas.openxmlformats.org/drawingml/2006/main">
              <a:ext uri="{FF2B5EF4-FFF2-40B4-BE49-F238E27FC236}">
                <a16:creationId xmlns:a16="http://schemas.microsoft.com/office/drawing/2014/main" id="{74D6CB97-1302-469C-868B-8DD48E2A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高雄長庚紀念醫院　遠距醫療服務成果</a:t>
            </a:r>
          </a:p>
        </p:txBody>
      </p:sp>
      <p:sp>
        <p:nvSpPr>
          <p:cNvPr id="344" name="12">
            <a:extLst xmlns:a="http://schemas.openxmlformats.org/drawingml/2006/main">
              <a:ext uri="{FF2B5EF4-FFF2-40B4-BE49-F238E27FC236}">
                <a16:creationId xmlns:a16="http://schemas.microsoft.com/office/drawing/2014/main" id="{267A963E-F60F-4EF1-94F3-4395CEB0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72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752884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13">
            <a:extLst xmlns:a="http://schemas.openxmlformats.org/drawingml/2006/main">
              <a:ext uri="{FF2B5EF4-FFF2-40B4-BE49-F238E27FC236}">
                <a16:creationId xmlns:a16="http://schemas.microsoft.com/office/drawing/2014/main" id="{F8B9679A-38C0-433C-803C-9760B7D2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62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sp>
        <p:nvSpPr>
          <p:cNvPr id="2" name="服務亮點">
            <a:extLst xmlns:a="http://schemas.openxmlformats.org/drawingml/2006/main">
              <a:ext uri="{FF2B5EF4-FFF2-40B4-BE49-F238E27FC236}">
                <a16:creationId xmlns:a16="http://schemas.microsoft.com/office/drawing/2014/main" id="{4FB5FD0F-DEE3-46A3-A527-5BED0104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服務亮點</a:t>
            </a:r>
          </a:p>
        </p:txBody>
      </p:sp>
      <p:sp>
        <p:nvSpPr>
          <p:cNvPr id="3" name="以實際服務紀錄呈現不同場域的專科支援">
            <a:extLst xmlns:a="http://schemas.openxmlformats.org/drawingml/2006/main">
              <a:ext uri="{FF2B5EF4-FFF2-40B4-BE49-F238E27FC236}">
                <a16:creationId xmlns:a16="http://schemas.microsoft.com/office/drawing/2014/main" id="{C57412AF-F664-4D03-A295-43834955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以實際服務紀錄呈現不同場域的專科支援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34DD8-E154-4572-95F5-790259F4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5" name="高雄長庚紀念醫院　遠距醫療服務成果">
            <a:extLst xmlns:a="http://schemas.openxmlformats.org/drawingml/2006/main">
              <a:ext uri="{FF2B5EF4-FFF2-40B4-BE49-F238E27FC236}">
                <a16:creationId xmlns:a16="http://schemas.microsoft.com/office/drawing/2014/main" id="{B60A4078-0809-4FE9-BE80-58D87ABC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高雄長庚紀念醫院　遠距醫療服務成果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6C32B017-A585-4D41-8F5C-1D650422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d5a6f622d41bc"/>
          <a:stretch xmlns:a="http://schemas.openxmlformats.org/drawingml/2006/main"/>
        </p:blipFill>
        <p:spPr>
          <a:xfrm xmlns:a="http://schemas.openxmlformats.org/drawingml/2006/main">
            <a:off x="7291388" y="1724025"/>
            <a:ext cx="4314825" cy="2876550"/>
          </a:xfrm>
          <a:prstGeom xmlns:a="http://schemas.openxmlformats.org/drawingml/2006/main" prst="rect">
            <a:avLst/>
          </a:prstGeom>
        </p:spPr>
      </p:pic>
      <p:sp>
        <p:nvSpPr>
          <p:cNvPr id="8" name="偏鄉衛生所">
            <a:extLst xmlns:a="http://schemas.openxmlformats.org/drawingml/2006/main">
              <a:ext uri="{FF2B5EF4-FFF2-40B4-BE49-F238E27FC236}">
                <a16:creationId xmlns:a16="http://schemas.microsoft.com/office/drawing/2014/main" id="{6658FA5D-9D74-42D9-A5BA-4484E809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偏鄉衛生所</a:t>
            </a:r>
          </a:p>
        </p:txBody>
      </p:sp>
      <p:sp>
        <p:nvSpPr>
          <p:cNvPr id="9" name="牡丹眼科">
            <a:extLst xmlns:a="http://schemas.openxmlformats.org/drawingml/2006/main">
              <a:ext uri="{FF2B5EF4-FFF2-40B4-BE49-F238E27FC236}">
                <a16:creationId xmlns:a16="http://schemas.microsoft.com/office/drawing/2014/main" id="{FEF4ABF4-C368-4CCA-BE39-B9EB356D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牡丹眼科</a:t>
            </a:r>
          </a:p>
        </p:txBody>
      </p:sp>
      <p:sp>
        <p:nvSpPr>
          <p:cNvPr id="10" name="130 人次">
            <a:extLst xmlns:a="http://schemas.openxmlformats.org/drawingml/2006/main">
              <a:ext uri="{FF2B5EF4-FFF2-40B4-BE49-F238E27FC236}">
                <a16:creationId xmlns:a16="http://schemas.microsoft.com/office/drawing/2014/main" id="{DCF33C11-8488-4F29-ADF2-D68E207A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90800"/>
            <a:ext cx="2705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130 人次</a:t>
            </a:r>
          </a:p>
        </p:txBody>
      </p:sp>
      <p:sp>
        <p:nvSpPr>
          <p:cNvPr id="11" name="2026年1–8月">
            <a:extLst xmlns:a="http://schemas.openxmlformats.org/drawingml/2006/main">
              <a:ext uri="{FF2B5EF4-FFF2-40B4-BE49-F238E27FC236}">
                <a16:creationId xmlns:a16="http://schemas.microsoft.com/office/drawing/2014/main" id="{6FE9C27A-2242-4DA0-BDE5-DEE53584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518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2026年1–8月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41DEA-4046-4B63-B9FA-34BEA6A3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13" name="復健專科">
            <a:extLst xmlns:a="http://schemas.openxmlformats.org/drawingml/2006/main">
              <a:ext uri="{FF2B5EF4-FFF2-40B4-BE49-F238E27FC236}">
                <a16:creationId xmlns:a16="http://schemas.microsoft.com/office/drawing/2014/main" id="{5E153E39-8D47-4367-ABD0-684A7BAB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復健專科</a:t>
            </a:r>
          </a:p>
        </p:txBody>
      </p:sp>
      <p:sp>
        <p:nvSpPr>
          <p:cNvPr id="14" name="恆春旅遊醫院">
            <a:extLst xmlns:a="http://schemas.openxmlformats.org/drawingml/2006/main">
              <a:ext uri="{FF2B5EF4-FFF2-40B4-BE49-F238E27FC236}">
                <a16:creationId xmlns:a16="http://schemas.microsoft.com/office/drawing/2014/main" id="{84126B43-46C0-432F-BE07-726B2F45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恆春旅遊醫院</a:t>
            </a:r>
          </a:p>
        </p:txBody>
      </p:sp>
      <p:sp>
        <p:nvSpPr>
          <p:cNvPr id="15" name="74 人次">
            <a:extLst xmlns:a="http://schemas.openxmlformats.org/drawingml/2006/main">
              <a:ext uri="{FF2B5EF4-FFF2-40B4-BE49-F238E27FC236}">
                <a16:creationId xmlns:a16="http://schemas.microsoft.com/office/drawing/2014/main" id="{6C30B42D-58C2-4B5A-A1EF-5E390A57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67225"/>
            <a:ext cx="2705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74 人次</a:t>
            </a:r>
          </a:p>
        </p:txBody>
      </p:sp>
      <p:sp>
        <p:nvSpPr>
          <p:cNvPr id="16" name="2026年4月開診，1–8月累計">
            <a:extLst xmlns:a="http://schemas.openxmlformats.org/drawingml/2006/main">
              <a:ext uri="{FF2B5EF4-FFF2-40B4-BE49-F238E27FC236}">
                <a16:creationId xmlns:a16="http://schemas.microsoft.com/office/drawing/2014/main" id="{548B69B1-122B-4820-9FF0-F2B58044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518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2026年4月開診，1–8月累計</a:t>
            </a:r>
          </a:p>
        </p:txBody>
      </p:sp>
      <p:sp>
        <p:nvSpPr>
          <p:cNvPr id="17" name="離島服務　455 人次">
            <a:extLst xmlns:a="http://schemas.openxmlformats.org/drawingml/2006/main">
              <a:ext uri="{FF2B5EF4-FFF2-40B4-BE49-F238E27FC236}">
                <a16:creationId xmlns:a16="http://schemas.microsoft.com/office/drawing/2014/main" id="{F9982FC8-FE56-41AD-AD25-F7A6F59F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386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離島服務　455 人次</a:t>
            </a:r>
          </a:p>
        </p:txBody>
      </p:sp>
      <p:sp>
        <p:nvSpPr>
          <p:cNvPr id="18" name="澎湖醫院皮膚科　2026年1–8月">
            <a:extLst xmlns:a="http://schemas.openxmlformats.org/drawingml/2006/main">
              <a:ext uri="{FF2B5EF4-FFF2-40B4-BE49-F238E27FC236}">
                <a16:creationId xmlns:a16="http://schemas.microsoft.com/office/drawing/2014/main" id="{32C8D311-20F9-41B4-9CBD-01026A89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76800"/>
            <a:ext cx="518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澎湖醫院皮膚科　2026年1–8月</a:t>
            </a:r>
          </a:p>
        </p:txBody>
      </p:sp>
      <p:sp>
        <p:nvSpPr>
          <p:cNvPr id="19" name="監所會診　11 人次">
            <a:extLst xmlns:a="http://schemas.openxmlformats.org/drawingml/2006/main">
              <a:ext uri="{FF2B5EF4-FFF2-40B4-BE49-F238E27FC236}">
                <a16:creationId xmlns:a16="http://schemas.microsoft.com/office/drawing/2014/main" id="{5BAEE70F-DF0D-4BEB-AE0F-EA795D99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244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監所會診　11 人次</a:t>
            </a:r>
          </a:p>
        </p:txBody>
      </p:sp>
      <p:sp>
        <p:nvSpPr>
          <p:cNvPr id="20" name="三總澎湖分院（澎監）　2026年8月20日正式上線">
            <a:extLst xmlns:a="http://schemas.openxmlformats.org/drawingml/2006/main">
              <a:ext uri="{FF2B5EF4-FFF2-40B4-BE49-F238E27FC236}">
                <a16:creationId xmlns:a16="http://schemas.microsoft.com/office/drawing/2014/main" id="{FC476073-50EB-45E3-B95F-E231E35F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62625"/>
            <a:ext cx="518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三總澎湖分院（澎監）　2026年8月20日正式上線</a:t>
            </a:r>
          </a:p>
        </p:txBody>
      </p:sp>
    </p:spTree>
    <p:extLst>
      <p:ext uri="{BB962C8B-B14F-4D97-AF65-F5344CB8AC3E}">
        <p14:creationId xmlns:p14="http://schemas.microsoft.com/office/powerpoint/2010/main" val="3740574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14">
            <a:extLst xmlns:a="http://schemas.openxmlformats.org/drawingml/2006/main">
              <a:ext uri="{FF2B5EF4-FFF2-40B4-BE49-F238E27FC236}">
                <a16:creationId xmlns:a16="http://schemas.microsoft.com/office/drawing/2014/main" id="{D1909299-7454-4E46-A70C-7E0FA52F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62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2" name="挑戰與因應">
            <a:extLst xmlns:a="http://schemas.openxmlformats.org/drawingml/2006/main">
              <a:ext uri="{FF2B5EF4-FFF2-40B4-BE49-F238E27FC236}">
                <a16:creationId xmlns:a16="http://schemas.microsoft.com/office/drawing/2014/main" id="{394BABA5-6AF7-4D8F-8C73-21233D3F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挑戰與因應</a:t>
            </a:r>
          </a:p>
        </p:txBody>
      </p:sp>
      <p:sp>
        <p:nvSpPr>
          <p:cNvPr id="3" name="依目前執行狀態，持續完善跨院服務">
            <a:extLst xmlns:a="http://schemas.openxmlformats.org/drawingml/2006/main">
              <a:ext uri="{FF2B5EF4-FFF2-40B4-BE49-F238E27FC236}">
                <a16:creationId xmlns:a16="http://schemas.microsoft.com/office/drawing/2014/main" id="{C117BBBD-8AA7-4BE6-85C3-E2C75784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依目前執行狀態，持續完善跨院服務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792D1-03F3-4922-ACDE-56BB95AC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5" name="高雄長庚紀念醫院　遠距醫療服務成果">
            <a:extLst xmlns:a="http://schemas.openxmlformats.org/drawingml/2006/main">
              <a:ext uri="{FF2B5EF4-FFF2-40B4-BE49-F238E27FC236}">
                <a16:creationId xmlns:a16="http://schemas.microsoft.com/office/drawing/2014/main" id="{024247A3-C0B7-4268-9AD2-59013F7C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高雄長庚紀念醫院　遠距醫療服務成果</a:t>
            </a:r>
          </a:p>
        </p:txBody>
      </p:sp>
      <p:sp>
        <p:nvSpPr>
          <p:cNvPr id="6" name="14">
            <a:extLst xmlns:a="http://schemas.openxmlformats.org/drawingml/2006/main">
              <a:ext uri="{FF2B5EF4-FFF2-40B4-BE49-F238E27FC236}">
                <a16:creationId xmlns:a16="http://schemas.microsoft.com/office/drawing/2014/main" id="{E43764BA-2964-4B7C-9AE9-A009F015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31" name="挑戰">
            <a:extLst xmlns:a="http://schemas.openxmlformats.org/drawingml/2006/main">
              <a:ext uri="{FF2B5EF4-FFF2-40B4-BE49-F238E27FC236}">
                <a16:creationId xmlns:a16="http://schemas.microsoft.com/office/drawing/2014/main" id="{091E7B1D-1CA6-4FEB-955C-C8833754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挑戰</a:t>
            </a:r>
          </a:p>
        </p:txBody>
      </p:sp>
      <p:sp>
        <p:nvSpPr>
          <p:cNvPr id="32" name="目前因應方式">
            <a:extLst xmlns:a="http://schemas.openxmlformats.org/drawingml/2006/main">
              <a:ext uri="{FF2B5EF4-FFF2-40B4-BE49-F238E27FC236}">
                <a16:creationId xmlns:a16="http://schemas.microsoft.com/office/drawing/2014/main" id="{B398F370-3CA0-4632-AA73-CCAE54F3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952625"/>
            <a:ext cx="619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目前因應方式</a:t>
            </a:r>
          </a:p>
        </p:txBody>
      </p:sp>
      <p:sp>
        <p:nvSpPr>
          <p:cNvPr id="33" name="狀態">
            <a:extLst xmlns:a="http://schemas.openxmlformats.org/drawingml/2006/main">
              <a:ext uri="{FF2B5EF4-FFF2-40B4-BE49-F238E27FC236}">
                <a16:creationId xmlns:a16="http://schemas.microsoft.com/office/drawing/2014/main" id="{B80F3CBB-8C12-4250-9D2C-E2EBEF1E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95262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狀態</a:t>
            </a:r>
          </a:p>
        </p:txBody>
      </p:sp>
      <p:sp>
        <p:nvSpPr>
          <p:cNvPr id="34" name="醫師時段與排程">
            <a:extLst xmlns:a="http://schemas.openxmlformats.org/drawingml/2006/main">
              <a:ext uri="{FF2B5EF4-FFF2-40B4-BE49-F238E27FC236}">
                <a16:creationId xmlns:a16="http://schemas.microsoft.com/office/drawing/2014/main" id="{6B40E9A6-1EB7-4B0E-B1AA-EA30D145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2790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醫師時段與排程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F37D58-35A3-44E4-934B-180C8D5C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57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66FB54-2AE6-4C6C-AA9A-6B930A99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57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cxnSp>
        <p:nvCxnSpPr>
          <p:cNvPr id="76" name=""/>
          <p:cNvCxnSpPr>
            <a:stCxn xmlns:a="http://schemas.openxmlformats.org/drawingml/2006/main" id="35" idx="6"/>
            <a:endCxn xmlns:a="http://schemas.openxmlformats.org/drawingml/2006/main" id="36" idx="2"/>
          </p:cNvCxnSpPr>
          <p:nvPr/>
        </p:nvCxnSpPr>
        <p:spPr>
          <a:xfrm xmlns:a="http://schemas.openxmlformats.org/drawingml/2006/main">
            <a:off x="3419475" y="26670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3C4C2"/>
            </a:solidFill>
            <a:tailEnd type="triangle" w="sm" len="sm"/>
          </a:ln>
        </p:spPr>
      </p:cxnSp>
      <p:sp>
        <p:nvSpPr>
          <p:cNvPr id="38" name="依單雙週與休假規則，自動產生門診表">
            <a:extLst xmlns:a="http://schemas.openxmlformats.org/drawingml/2006/main">
              <a:ext uri="{FF2B5EF4-FFF2-40B4-BE49-F238E27FC236}">
                <a16:creationId xmlns:a16="http://schemas.microsoft.com/office/drawing/2014/main" id="{1252C795-5964-4289-A0AB-7182027A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486025"/>
            <a:ext cx="634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依單雙週與休假規則，自動產生門診表</a:t>
            </a:r>
          </a:p>
        </p:txBody>
      </p:sp>
      <p:sp>
        <p:nvSpPr>
          <p:cNvPr id="39" name="已完成">
            <a:extLst xmlns:a="http://schemas.openxmlformats.org/drawingml/2006/main">
              <a:ext uri="{FF2B5EF4-FFF2-40B4-BE49-F238E27FC236}">
                <a16:creationId xmlns:a16="http://schemas.microsoft.com/office/drawing/2014/main" id="{44D07D57-2C4A-4387-8491-60D81C2D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533650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已完成</a:t>
            </a:r>
          </a:p>
        </p:txBody>
      </p:sp>
      <p:sp>
        <p:nvSpPr>
          <p:cNvPr id="40" name="服務量追蹤">
            <a:extLst xmlns:a="http://schemas.openxmlformats.org/drawingml/2006/main">
              <a:ext uri="{FF2B5EF4-FFF2-40B4-BE49-F238E27FC236}">
                <a16:creationId xmlns:a16="http://schemas.microsoft.com/office/drawing/2014/main" id="{94229DCE-5FF4-4A00-A9BE-048EAF1D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2790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服務量追蹤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BD9242-4637-45CB-BC9A-84372D39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909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B2A0A7-8770-456C-A6F3-5DC66EF3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909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cxnSp>
        <p:nvCxnSpPr>
          <p:cNvPr id="82" name=""/>
          <p:cNvCxnSpPr>
            <a:stCxn xmlns:a="http://schemas.openxmlformats.org/drawingml/2006/main" id="41" idx="6"/>
            <a:endCxn xmlns:a="http://schemas.openxmlformats.org/drawingml/2006/main" id="42" idx="2"/>
          </p:cNvCxnSpPr>
          <p:nvPr/>
        </p:nvCxnSpPr>
        <p:spPr>
          <a:xfrm xmlns:a="http://schemas.openxmlformats.org/drawingml/2006/main">
            <a:off x="3419475" y="34004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3C4C2"/>
            </a:solidFill>
            <a:tailEnd type="triangle" w="sm" len="sm"/>
          </a:ln>
        </p:spPr>
      </p:cxnSp>
      <p:sp>
        <p:nvSpPr>
          <p:cNvPr id="44" name="固定Excel模板產出HTML／A3報表">
            <a:extLst xmlns:a="http://schemas.openxmlformats.org/drawingml/2006/main">
              <a:ext uri="{FF2B5EF4-FFF2-40B4-BE49-F238E27FC236}">
                <a16:creationId xmlns:a16="http://schemas.microsoft.com/office/drawing/2014/main" id="{B491E44F-562C-478A-A151-07626ADD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219450"/>
            <a:ext cx="634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固定Excel模板產出HTML／A3報表</a:t>
            </a:r>
          </a:p>
        </p:txBody>
      </p:sp>
      <p:sp>
        <p:nvSpPr>
          <p:cNvPr id="45" name="已完成">
            <a:extLst xmlns:a="http://schemas.openxmlformats.org/drawingml/2006/main">
              <a:ext uri="{FF2B5EF4-FFF2-40B4-BE49-F238E27FC236}">
                <a16:creationId xmlns:a16="http://schemas.microsoft.com/office/drawing/2014/main" id="{341B03AE-E8EE-4950-94C8-974C9A22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670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已完成</a:t>
            </a:r>
          </a:p>
        </p:txBody>
      </p:sp>
      <p:sp>
        <p:nvSpPr>
          <p:cNvPr id="46" name="跨院協調與申報">
            <a:extLst xmlns:a="http://schemas.openxmlformats.org/drawingml/2006/main">
              <a:ext uri="{FF2B5EF4-FFF2-40B4-BE49-F238E27FC236}">
                <a16:creationId xmlns:a16="http://schemas.microsoft.com/office/drawing/2014/main" id="{B382E12D-A1B5-4796-A951-CEBBE330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33825"/>
            <a:ext cx="2790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跨院協調與申報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738642-D8B8-465D-ABF1-2E84126B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124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959BEA-FCF9-450F-AC59-C9E1868E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24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cxnSp>
        <p:nvCxnSpPr>
          <p:cNvPr id="88" name=""/>
          <p:cNvCxnSpPr>
            <a:stCxn xmlns:a="http://schemas.openxmlformats.org/drawingml/2006/main" id="47" idx="6"/>
            <a:endCxn xmlns:a="http://schemas.openxmlformats.org/drawingml/2006/main" id="48" idx="2"/>
          </p:cNvCxnSpPr>
          <p:nvPr/>
        </p:nvCxnSpPr>
        <p:spPr>
          <a:xfrm xmlns:a="http://schemas.openxmlformats.org/drawingml/2006/main">
            <a:off x="3419475" y="4133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3C4C2"/>
            </a:solidFill>
            <a:tailEnd type="triangle" w="sm" len="sm"/>
          </a:ln>
        </p:spPr>
      </p:cxnSp>
      <p:sp>
        <p:nvSpPr>
          <p:cNvPr id="50" name="固定窗口、清單核對與政策確認">
            <a:extLst xmlns:a="http://schemas.openxmlformats.org/drawingml/2006/main">
              <a:ext uri="{FF2B5EF4-FFF2-40B4-BE49-F238E27FC236}">
                <a16:creationId xmlns:a16="http://schemas.microsoft.com/office/drawing/2014/main" id="{8A6584B3-5A1B-40D9-87E6-3CF0BD83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952875"/>
            <a:ext cx="634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固定窗口、清單核對與政策確認</a:t>
            </a:r>
          </a:p>
        </p:txBody>
      </p:sp>
      <p:sp>
        <p:nvSpPr>
          <p:cNvPr id="51" name="執行中">
            <a:extLst xmlns:a="http://schemas.openxmlformats.org/drawingml/2006/main">
              <a:ext uri="{FF2B5EF4-FFF2-40B4-BE49-F238E27FC236}">
                <a16:creationId xmlns:a16="http://schemas.microsoft.com/office/drawing/2014/main" id="{DB246766-0226-4372-A015-62053C82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0500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執行中</a:t>
            </a:r>
          </a:p>
        </p:txBody>
      </p:sp>
      <p:sp>
        <p:nvSpPr>
          <p:cNvPr id="52" name="HIS與影像串接">
            <a:extLst xmlns:a="http://schemas.openxmlformats.org/drawingml/2006/main">
              <a:ext uri="{FF2B5EF4-FFF2-40B4-BE49-F238E27FC236}">
                <a16:creationId xmlns:a16="http://schemas.microsoft.com/office/drawing/2014/main" id="{651588A9-6062-45C9-8DB3-21360E90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2790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HIS與影像串接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386A12-A455-4565-AD40-D4B56DD0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85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37C25E-3C08-48E9-8534-39C76727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85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cxnSp>
        <p:nvCxnSpPr>
          <p:cNvPr id="94" name=""/>
          <p:cNvCxnSpPr>
            <a:stCxn xmlns:a="http://schemas.openxmlformats.org/drawingml/2006/main" id="53" idx="6"/>
            <a:endCxn xmlns:a="http://schemas.openxmlformats.org/drawingml/2006/main" id="54" idx="2"/>
          </p:cNvCxnSpPr>
          <p:nvPr/>
        </p:nvCxnSpPr>
        <p:spPr>
          <a:xfrm xmlns:a="http://schemas.openxmlformats.org/drawingml/2006/main">
            <a:off x="3419475" y="48672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3C4C2"/>
            </a:solidFill>
            <a:tailEnd type="triangle" w="sm" len="sm"/>
          </a:ln>
        </p:spPr>
      </p:cxnSp>
      <p:sp>
        <p:nvSpPr>
          <p:cNvPr id="56" name="整合醫令、圖片、回覆及會診單需求">
            <a:extLst xmlns:a="http://schemas.openxmlformats.org/drawingml/2006/main">
              <a:ext uri="{FF2B5EF4-FFF2-40B4-BE49-F238E27FC236}">
                <a16:creationId xmlns:a16="http://schemas.microsoft.com/office/drawing/2014/main" id="{E8FCB697-676D-4F2B-8689-6CE93CF6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686300"/>
            <a:ext cx="634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整合醫令、圖片、回覆及會診單需求</a:t>
            </a:r>
          </a:p>
        </p:txBody>
      </p:sp>
      <p:sp>
        <p:nvSpPr>
          <p:cNvPr id="57" name="執行中">
            <a:extLst xmlns:a="http://schemas.openxmlformats.org/drawingml/2006/main">
              <a:ext uri="{FF2B5EF4-FFF2-40B4-BE49-F238E27FC236}">
                <a16:creationId xmlns:a16="http://schemas.microsoft.com/office/drawing/2014/main" id="{2F6D9929-7E97-4AF8-A9F3-4E8DDDB3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73392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執行中</a:t>
            </a:r>
          </a:p>
        </p:txBody>
      </p:sp>
      <p:sp>
        <p:nvSpPr>
          <p:cNvPr id="58" name="跨院資料與AI">
            <a:extLst xmlns:a="http://schemas.openxmlformats.org/drawingml/2006/main">
              <a:ext uri="{FF2B5EF4-FFF2-40B4-BE49-F238E27FC236}">
                <a16:creationId xmlns:a16="http://schemas.microsoft.com/office/drawing/2014/main" id="{F2D16E8A-25E1-46E1-BA1C-B0C8CDA3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00675"/>
            <a:ext cx="2790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跨院資料與AI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22C9E6-7C3D-458C-8BA8-EE232C3F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5911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F24B3E-0CA2-42CA-A510-5DD91BFF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5911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cxnSp>
        <p:nvCxnSpPr>
          <p:cNvPr id="100" name=""/>
          <p:cNvCxnSpPr>
            <a:stCxn xmlns:a="http://schemas.openxmlformats.org/drawingml/2006/main" id="59" idx="6"/>
            <a:endCxn xmlns:a="http://schemas.openxmlformats.org/drawingml/2006/main" id="60" idx="2"/>
          </p:cNvCxnSpPr>
          <p:nvPr/>
        </p:nvCxnSpPr>
        <p:spPr>
          <a:xfrm xmlns:a="http://schemas.openxmlformats.org/drawingml/2006/main">
            <a:off x="3419475" y="56007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3C4C2"/>
            </a:solidFill>
            <a:tailEnd type="triangle" w="sm" len="sm"/>
          </a:ln>
        </p:spPr>
      </p:cxnSp>
      <p:sp>
        <p:nvSpPr>
          <p:cNvPr id="62" name="FHIR、影音轉文字與AI輔助紀錄">
            <a:extLst xmlns:a="http://schemas.openxmlformats.org/drawingml/2006/main">
              <a:ext uri="{FF2B5EF4-FFF2-40B4-BE49-F238E27FC236}">
                <a16:creationId xmlns:a16="http://schemas.microsoft.com/office/drawing/2014/main" id="{071885C9-CFA4-4392-BD44-8A3B04BC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419725"/>
            <a:ext cx="634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FHIR、影音轉文字與AI輔助紀錄</a:t>
            </a:r>
          </a:p>
        </p:txBody>
      </p:sp>
      <p:sp>
        <p:nvSpPr>
          <p:cNvPr id="63" name="規劃中">
            <a:extLst xmlns:a="http://schemas.openxmlformats.org/drawingml/2006/main">
              <a:ext uri="{FF2B5EF4-FFF2-40B4-BE49-F238E27FC236}">
                <a16:creationId xmlns:a16="http://schemas.microsoft.com/office/drawing/2014/main" id="{507BAA1C-7E14-477D-B696-9F830BDE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467350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規劃中</a:t>
            </a:r>
          </a:p>
        </p:txBody>
      </p:sp>
    </p:spTree>
    <p:extLst>
      <p:ext uri="{BB962C8B-B14F-4D97-AF65-F5344CB8AC3E}">
        <p14:creationId xmlns:p14="http://schemas.microsoft.com/office/powerpoint/2010/main" val="6758458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55e1ee6b6446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87C93078-730F-4963-A191-E8C4114E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62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15</a:t>
            </a:r>
          </a:p>
        </p:txBody>
      </p:sp>
      <p:sp>
        <p:nvSpPr>
          <p:cNvPr id="3" name="下一階段">
            <a:extLst xmlns:a="http://schemas.openxmlformats.org/drawingml/2006/main">
              <a:ext uri="{FF2B5EF4-FFF2-40B4-BE49-F238E27FC236}">
                <a16:creationId xmlns:a16="http://schemas.microsoft.com/office/drawing/2014/main" id="{88438FA9-C6C3-4DA2-A7AB-7491B9F7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下一階段</a:t>
            </a:r>
          </a:p>
        </p:txBody>
      </p:sp>
      <p:sp>
        <p:nvSpPr>
          <p:cNvPr id="4" name="Future Direction　以下為發展方向，非已完成成">
            <a:extLst xmlns:a="http://schemas.openxmlformats.org/drawingml/2006/main">
              <a:ext uri="{FF2B5EF4-FFF2-40B4-BE49-F238E27FC236}">
                <a16:creationId xmlns:a16="http://schemas.microsoft.com/office/drawing/2014/main" id="{E66FB7A3-3716-41DB-B2BF-A1884864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Future Direction　以下為發展方向，非已完成成果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BFBFE-8DC9-4E72-B228-FBE9C5D5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6" name="高雄長庚紀念醫院　遠距醫療服務成果">
            <a:extLst xmlns:a="http://schemas.openxmlformats.org/drawingml/2006/main">
              <a:ext uri="{FF2B5EF4-FFF2-40B4-BE49-F238E27FC236}">
                <a16:creationId xmlns:a16="http://schemas.microsoft.com/office/drawing/2014/main" id="{91F31DD5-4ADB-437A-B45E-E1001A72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高雄長庚紀念醫院　遠距醫療服務成果</a:t>
            </a:r>
          </a:p>
        </p:txBody>
      </p:sp>
      <p:sp>
        <p:nvSpPr>
          <p:cNvPr id="7" name="15">
            <a:extLst xmlns:a="http://schemas.openxmlformats.org/drawingml/2006/main">
              <a:ext uri="{FF2B5EF4-FFF2-40B4-BE49-F238E27FC236}">
                <a16:creationId xmlns:a16="http://schemas.microsoft.com/office/drawing/2014/main" id="{7BE62400-5887-418D-A618-656843B1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15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7e9991f7f4f31"/>
          <a:stretch xmlns:a="http://schemas.openxmlformats.org/drawingml/2006/main"/>
        </p:blipFill>
        <p:spPr>
          <a:xfrm xmlns:a="http://schemas.openxmlformats.org/drawingml/2006/main">
            <a:off x="7362825" y="2228850"/>
            <a:ext cx="428625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97A2A-8F45-4045-A3B4-E8478A7D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765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4A8DE-3C2C-454A-9214-31A379A5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86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A8C8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0A9A5-25F5-4A51-AC9C-9484F337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66975"/>
            <a:ext cx="0" cy="10477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BED9D7"/>
            </a:solidFill>
          </a:ln>
        </p:spPr>
      </p:sp>
      <p:sp>
        <p:nvSpPr>
          <p:cNvPr id="12" name="服務擴展">
            <a:extLst xmlns:a="http://schemas.openxmlformats.org/drawingml/2006/main">
              <a:ext uri="{FF2B5EF4-FFF2-40B4-BE49-F238E27FC236}">
                <a16:creationId xmlns:a16="http://schemas.microsoft.com/office/drawing/2014/main" id="{442BE232-EFAA-46BA-8498-67F6D373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240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服務擴展</a:t>
            </a:r>
          </a:p>
        </p:txBody>
      </p:sp>
      <p:sp>
        <p:nvSpPr>
          <p:cNvPr id="13" name="服務場域與專科&#10;區域可複製服務模式">
            <a:extLst xmlns:a="http://schemas.openxmlformats.org/drawingml/2006/main">
              <a:ext uri="{FF2B5EF4-FFF2-40B4-BE49-F238E27FC236}">
                <a16:creationId xmlns:a16="http://schemas.microsoft.com/office/drawing/2014/main" id="{36C3A76C-602E-49EE-AC18-9595D493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628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服務場域與專科</a:t>
            </a:r>
          </a:p>
          <a:p xmlns:a="http://schemas.openxmlformats.org/drawingml/2006/main">
            <a:pPr algn="l">
              <a:defRPr sz="22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區域可複製服務模式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EE6FF-955D-4880-892B-6CDE6F0C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A8C8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17D98-3660-47D4-8298-136D4DA6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24275"/>
            <a:ext cx="0" cy="10477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BED9D7"/>
            </a:solidFill>
          </a:ln>
        </p:spPr>
      </p:sp>
      <p:sp>
        <p:nvSpPr>
          <p:cNvPr id="16" name="系統互通">
            <a:extLst xmlns:a="http://schemas.openxmlformats.org/drawingml/2006/main">
              <a:ext uri="{FF2B5EF4-FFF2-40B4-BE49-F238E27FC236}">
                <a16:creationId xmlns:a16="http://schemas.microsoft.com/office/drawing/2014/main" id="{11DDD7F9-76FA-443C-9BBE-FB9BA660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813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系統互通</a:t>
            </a:r>
          </a:p>
        </p:txBody>
      </p:sp>
      <p:sp>
        <p:nvSpPr>
          <p:cNvPr id="17" name="HIS介接持續推動&#10;FHIR跨院資料交換">
            <a:extLst xmlns:a="http://schemas.openxmlformats.org/drawingml/2006/main">
              <a:ext uri="{FF2B5EF4-FFF2-40B4-BE49-F238E27FC236}">
                <a16:creationId xmlns:a16="http://schemas.microsoft.com/office/drawing/2014/main" id="{1B57A2C7-6C5C-4B19-B81E-F43B3317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628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HIS介接持續推動</a:t>
            </a:r>
          </a:p>
          <a:p xmlns:a="http://schemas.openxmlformats.org/drawingml/2006/main">
            <a:pPr algn="l">
              <a:defRPr sz="22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FHIR跨院資料交換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C76FF-64D2-4091-95AD-7488F7C9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800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4288">
            <a:solidFill>
              <a:srgbClr val="F28C28"/>
            </a:solidFill>
          </a:ln>
        </p:spPr>
      </p:sp>
      <p:sp>
        <p:nvSpPr>
          <p:cNvPr id="19" name="智慧管理">
            <a:extLst xmlns:a="http://schemas.openxmlformats.org/drawingml/2006/main">
              <a:ext uri="{FF2B5EF4-FFF2-40B4-BE49-F238E27FC236}">
                <a16:creationId xmlns:a16="http://schemas.microsoft.com/office/drawing/2014/main" id="{B8ABC38C-4615-4FC1-A012-A4B39A12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386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00" b="1">
                <a:solidFill>
                  <a:srgbClr val="2A8C8B"/>
                </a:solidFill>
                <a:latin typeface="Noto Sans CJK TC"/>
                <a:ea typeface="Noto Sans CJK TC"/>
                <a:cs typeface="Noto Sans CJK TC"/>
              </a:rPr>
              <a:t>智慧管理</a:t>
            </a:r>
          </a:p>
        </p:txBody>
      </p:sp>
      <p:sp>
        <p:nvSpPr>
          <p:cNvPr id="20" name="影音轉文字、AI輔助紀錄&#10;AI Agent、Dashboar">
            <a:extLst xmlns:a="http://schemas.openxmlformats.org/drawingml/2006/main">
              <a:ext uri="{FF2B5EF4-FFF2-40B4-BE49-F238E27FC236}">
                <a16:creationId xmlns:a16="http://schemas.microsoft.com/office/drawing/2014/main" id="{08B172C2-E377-4D3B-827D-87F4B157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628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影音轉文字、AI輔助紀錄</a:t>
            </a:r>
          </a:p>
          <a:p xmlns:a="http://schemas.openxmlformats.org/drawingml/2006/main">
            <a:pPr algn="l">
              <a:defRPr sz="22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00" b="0">
                <a:solidFill>
                  <a:srgbClr val="163A5F"/>
                </a:solidFill>
                <a:latin typeface="Noto Sans CJK TC"/>
                <a:ea typeface="Noto Sans CJK TC"/>
                <a:cs typeface="Noto Sans CJK TC"/>
              </a:rPr>
              <a:t>AI Agent、Dashboard決策支援</a:t>
            </a:r>
          </a:p>
        </p:txBody>
      </p:sp>
      <p:sp>
        <p:nvSpPr>
          <p:cNvPr id="21" name="HIS【執行中】&#10;其餘新增方向【規劃中】">
            <a:extLst xmlns:a="http://schemas.openxmlformats.org/drawingml/2006/main">
              <a:ext uri="{FF2B5EF4-FFF2-40B4-BE49-F238E27FC236}">
                <a16:creationId xmlns:a16="http://schemas.microsoft.com/office/drawing/2014/main" id="{5E30BE2A-7134-4579-9712-4F5CB2A1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19700"/>
            <a:ext cx="338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HIS【執行中】</a:t>
            </a:r>
          </a:p>
          <a:p xmlns:a="http://schemas.openxmlformats.org/drawingml/2006/main">
            <a:pPr algn="l">
              <a:def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00" b="0">
                <a:solidFill>
                  <a:srgbClr val="526F7A"/>
                </a:solidFill>
                <a:latin typeface="Noto Sans CJK TC"/>
                <a:ea typeface="Noto Sans CJK TC"/>
                <a:cs typeface="Noto Sans CJK TC"/>
              </a:rPr>
              <a:t>其餘新增方向【規劃中】</a:t>
            </a:r>
          </a:p>
        </p:txBody>
      </p:sp>
    </p:spTree>
    <p:extLst>
      <p:ext uri="{BB962C8B-B14F-4D97-AF65-F5344CB8AC3E}">
        <p14:creationId xmlns:p14="http://schemas.microsoft.com/office/powerpoint/2010/main" val="1685953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2026-09-18T04:29:36.7470000Z</dcterms:created>
  <dcterms:modified xsi:type="dcterms:W3CDTF">2026-09-18T04:29:36.7470000Z</dcterms:modified>
</coreProperties>
</file>